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embeddedFontLst>
    <p:embeddedFont>
      <p:font typeface="Instrument Serif" pitchFamily="18" charset="0"/>
      <p:regular r:id="rId22"/>
      <p:italic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Canvas lets blind and low-vision people explore a printed painting with their fingertip: color becomes music, objects make sounds, edges buzz, and resting the finger plays a description. The photo is the live camera view: the blue lines are the hand our system tracks, and the black squares are the markers that tell it where the painting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all art is made to be looked at. The WHO estimates at least 2.2 billion people have a near or distance vision impairment. Museums can’t let visitors touch paintings, and the main alternative, the audio guide, is linear: someone else decides what you hear, in what order, at what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visitor puts a hand on an ordinary printed painting. An overhead camera follows the index fingertip and the part of the painting under it comes alive through headphones and a small motor on the finger. Nothing on screen is needed by the visitor.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the visitor gets. A spoken overview gives a mental map first. Then color plays as instruments: blue harp, warm strings, green woodwind, pale choir, dark cello, brighter spots higher, panned with the finger. Labeled objects add their own sounds. Edges are felt, not heard: research found an audio cue for edges confused people, so a motor on the fingertip buzzes instead. Resting the finger for 2.5 seconds plays a description. Swapping the printed page switches paintings.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runs once per camera frame. Markers at the corners of the print give a homography from camera pixels to painting coordinates, so the camera doesn’t need perfect alignment. MediaPipe gives the fingertip. Colors and regions are read from the clean digital painting, not the webcam image, so room lighting and the hand itself don’t change what is heard. The laptop sends M1 or M0 to the Arduino only when the motor state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off-the-shelf: OpenCV for the markers and the camera-to-painting mapping, Google’s MediaPipe for hand tracking, a custom numpy audio mixer, and an Arduino Uno driving a coin vibration motor through a transistor with a flyback diode. On Kiro: we did not use it. Our AI-assisted development was done in Claude Code, against one shared spec file, CLAUDE.md, which holds the contracts between team members (coordinates, region map format, serial protocol, audio API), so each of us could build separately and integrate on Saturday.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kinds of data. Images: three public-domain masterworks from Wikimedia Commons (The Great Wave, c. 1831; The Starry Night, 1889; Mondrian’s 1930 Composition) and Sunset Hills, which we made. Labels: we traced every painting into labeled regions (7, 7, 6 and 8) and wrote a description for each. Live input: webcam frames, used only to find the fingertip and never stored. Model: MediaPipe’s pretrained hand landmarker; we trained nothing. The layered-audio design comes from Eyes-Free Art (Microsoft Research, 2017), where 11 of 13 blind and low-vision participants preferred layered audio.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one is segmentation and classification. We segment each painting into labeled regions: a region map where every pixel holds a region ID. The motor’s edge map is derived from the region boundaries, widened by morphological dilation into a band about 5 mm wide, rather than from edge detection, which would buzz on every brushstroke. Color is classified softly: Gaussian membership on hue and smooth ramps on lightness and saturation give five instrument weights that always sum to one, so the sound crossfades instead of flipping when the finger sits on a border. One data-quality finding: luma under-weights blue, so a navy field read as black; HSL lightness fixed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two is predictive modeling plus anomaly handling on a live, noisy signal. MediaPipe’s pretrained hand landmarker predicts 21 keypoints per frame; we use keypoint 8, the index fingertip, and require a detection confidence of at least 0.5. The camera-to-painting mapping is solved from the four marker centers; if the detected marker shape is not convex, that frame is an outlier and is rejected, and the last good mapping keeps working, which is what the screenshot shows when a hand covers a marker. The fingertip is smoothed with an exponential moving average, and outputs are debounced: the motor changes state only after two frames agree, an object sound only after 0.12 seconds in a region, and a description only after 2.5 seconds of stillness.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impact is independence. A visitor explores a painting in any order, at their own pace, instead of following a fixed tour. It is cheap: about 95 dollars of parts we bought, plus a laptop and an Arduino. It scales by content, not code: a new painting is an image, a region map and descriptions. And the visitor needs no screen: they swap the printed page, and the app can be started by voice. To be honest about evidence: we have tested with blindfolded sighted people, not yet with blind or low-vision users; that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ethics and responsibility statement; the next three slides expand each part: data sourcing and use, privacy, bias and fairness, harms and mitigation, and transparency and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Sourcing: every image is public domain or ours, so we can print and share it. We traced the regions and wrote the descriptions ourselves, so we know exactly what the system says. Generated voices and sound effects come from ElevenLabs, credited as its free plan requires, and listed in CREDITS.md. Privacy: the camera looks down at the print, frames are processed in memory, and nothing is saved or uploaded. Bias: the hand model was trained by Google on data we did not choose, and may perform differently across skin tones, lighting, nail polish, gloves or limb differences; we have not measured that yet. Our descriptions are a sighted, mostly Western reading of the art. And the design leaves out people who are deafblind, who don’t speak English, or who can’t point with a fingertip.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risk is a confident wrong answer to someone who cannot check it, so in the demo build every spoken description is pre-written and reviewed by us; the code can call a live vision model, but we did not turn it on. Audio is designed not to overwhelm: a quiet bed, music ducking to about a third under the voice, and descriptions only after a deliberate 2.5-second rest, never repeated within 20 seconds. The motor uses hysteresis so it doesn’t chatter, and it is driven safely through a transistor with a flyback diode. When tracking fails, the system degrades quietly: a hidden marker reuses the last good mapping, and a lost finger turns the motor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learn what the system is from its first words: the overview names the painting and explains how to explore. Because descriptions are pre-written rather than generated, anyone can audit exactly what a user will hear. Our README and CREDITS file document data sources, licenses, methods and limits, and the code is public. And we state the limits plainly: we have not tested with blind or low-vision users, we have not measured tracking accuracy across different hands, and there are only four paintings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put it in front of blind and low-vision users and let them set the priorities; measure how well hand tracking works across different hands and lighting; consider live descriptions for new paintings, but only with a human review step; and build a proper wearable fingertip mount, more paintings and more languages. The code and the 1:42 video are on GitHub.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EE7D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76350"/>
            <a:ext cx="10566400" cy="501650"/>
          </a:xfrm>
          <a:prstGeom prst="rect">
            <a:avLst/>
          </a:prstGeom>
          <a:noFill/>
          <a:ln/>
        </p:spPr>
        <p:txBody>
          <a:bodyPr wrap="square" lIns="0" tIns="0" rIns="0" bIns="0" rtlCol="0" anchor="t"/>
          <a:lstStyle>
            <a:lvl1pPr algn="l" indent="0" marL="0">
              <a:lnSpc>
                <a:spcPct val="115000"/>
              </a:lnSpc>
              <a:buNone/>
              <a:defRPr lang="en-US" sz="3600" dirty="0">
                <a:solidFill>
                  <a:srgbClr val="121110"/>
                </a:solidFill>
                <a:latin typeface="Archivo" pitchFamily="34" charset="0"/>
                <a:ea typeface="Archivo" pitchFamily="34" charset="-122"/>
                <a:cs typeface="Archiv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2800"/>
            <a:ext cx="10566400" cy="3962400"/>
          </a:xfrm>
          <a:prstGeom prst="rect">
            <a:avLst/>
          </a:prstGeom>
          <a:noFill/>
          <a:ln/>
        </p:spPr>
        <p:txBody>
          <a:bodyPr wrap="square" lIns="0" tIns="0" rIns="0" bIns="0" rtlCol="0" anchor="t"/>
          <a:lstStyle>
            <a:lvl1pPr algn="l" indent="0" marL="0">
              <a:lnSpc>
                <a:spcPct val="140000"/>
              </a:lnSpc>
              <a:buNone/>
              <a:defRPr lang="en-US" sz="1600" dirty="0">
                <a:solidFill>
                  <a:srgbClr val="3A3631"/>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7D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76350"/>
            <a:ext cx="10566400" cy="501650"/>
          </a:xfrm>
          <a:prstGeom prst="rect">
            <a:avLst/>
          </a:prstGeom>
          <a:noFill/>
          <a:ln/>
        </p:spPr>
        <p:txBody>
          <a:bodyPr wrap="square" lIns="0" tIns="0" rIns="0" bIns="0" rtlCol="0" anchor="t"/>
          <a:lstStyle>
            <a:lvl1pPr algn="l" indent="0" marL="0">
              <a:lnSpc>
                <a:spcPct val="115000"/>
              </a:lnSpc>
              <a:buNone/>
              <a:defRPr lang="en-US" sz="3600" dirty="0">
                <a:solidFill>
                  <a:srgbClr val="121110"/>
                </a:solidFill>
                <a:latin typeface="Archivo" pitchFamily="34" charset="0"/>
                <a:ea typeface="Archivo" pitchFamily="34" charset="-122"/>
                <a:cs typeface="Archiv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2800"/>
            <a:ext cx="10566400" cy="3962400"/>
          </a:xfrm>
          <a:prstGeom prst="rect">
            <a:avLst/>
          </a:prstGeom>
          <a:noFill/>
          <a:ln/>
        </p:spPr>
        <p:txBody>
          <a:bodyPr wrap="square" lIns="0" tIns="0" rIns="0" bIns="0" rtlCol="0" anchor="t"/>
          <a:lstStyle>
            <a:lvl1pPr algn="l" indent="0" marL="0">
              <a:lnSpc>
                <a:spcPct val="140000"/>
              </a:lnSpc>
              <a:buNone/>
              <a:defRPr lang="en-US" sz="1600" dirty="0">
                <a:solidFill>
                  <a:srgbClr val="3A3631"/>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image" Target="../media/image-8-3.jpe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github.com/bee-0207/open-canvas" TargetMode="External"/><Relationship Id="rId2" Type="http://schemas.openxmlformats.org/officeDocument/2006/relationships/hyperlink" Target="https://github.com/bee-0207/open-canvas/releases/download/v1.0-demo/open_canvas.mp4" TargetMode="External"/><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110"/>
        </a:solidFill>
      </p:bgPr>
    </p:bg>
    <p:spTree>
      <p:nvGrpSpPr>
        <p:cNvPr id="1" name=""/>
        <p:cNvGrpSpPr/>
        <p:nvPr/>
      </p:nvGrpSpPr>
      <p:grpSpPr>
        <a:xfrm>
          <a:off x="0" y="0"/>
          <a:ext cx="0" cy="0"/>
          <a:chOff x="0" y="0"/>
          <a:chExt cx="0" cy="0"/>
        </a:xfrm>
      </p:grpSpPr>
      <p:pic>
        <p:nvPicPr>
          <p:cNvPr id="2" name="Image 0" descr="Overhead camera view: a hand rests on the printed Sunset Hills painting, with the tracked hand skeleton drawn over it and ArUco markers at the corners">    </p:cNvPr>
          <p:cNvPicPr>
            <a:picLocks noChangeAspect="1"/>
          </p:cNvPicPr>
          <p:nvPr/>
        </p:nvPicPr>
        <p:blipFill>
          <a:blip r:embed="rId1"/>
          <a:srcRect l="27366" r="27366" t="0" b="0"/>
          <a:stretch/>
        </p:blipFill>
        <p:spPr>
          <a:xfrm>
            <a:off x="6604000" y="0"/>
            <a:ext cx="5588000" cy="6858000"/>
          </a:xfrm>
          <a:prstGeom prst="rect">
            <a:avLst/>
          </a:prstGeom>
        </p:spPr>
      </p:pic>
      <p:sp>
        <p:nvSpPr>
          <p:cNvPr id="3" name="Text 0"/>
          <p:cNvSpPr/>
          <p:nvPr/>
        </p:nvSpPr>
        <p:spPr>
          <a:xfrm>
            <a:off x="812800" y="1663700"/>
            <a:ext cx="5363210"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4B1F"/>
                </a:solidFill>
                <a:latin typeface="IBM Plex Mono" pitchFamily="49" charset="0"/>
                <a:ea typeface="IBM Plex Mono" pitchFamily="49" charset="-122"/>
                <a:cs typeface="IBM Plex Mono" pitchFamily="49" charset="-120"/>
              </a:rPr>
              <a:t>DS+X 2026 · ART HACK · BOSTON UNIVERSITY</a:t>
            </a:r>
            <a:endParaRPr lang="en-US" sz="1200" dirty="0"/>
          </a:p>
        </p:txBody>
      </p:sp>
      <p:sp>
        <p:nvSpPr>
          <p:cNvPr id="4" name="Text 1"/>
          <p:cNvSpPr/>
          <p:nvPr>
            <p:ph type="title"/>
          </p:nvPr>
        </p:nvSpPr>
        <p:spPr>
          <a:xfrm>
            <a:off x="812800" y="2127250"/>
            <a:ext cx="5494020" cy="1473200"/>
          </a:xfrm>
          <a:prstGeom prst="rect">
            <a:avLst/>
          </a:prstGeom>
          <a:noFill/>
          <a:ln/>
        </p:spPr>
        <p:txBody>
          <a:bodyPr wrap="square" lIns="0" tIns="0" rIns="0" bIns="0" rtlCol="0" anchor="t">
            <a:normAutofit/>
          </a:bodyPr>
          <a:lstStyle/>
          <a:p>
            <a:pPr algn="l" indent="0" marL="0">
              <a:lnSpc>
                <a:spcPts val="5700"/>
              </a:lnSpc>
              <a:buNone/>
            </a:pPr>
            <a:r>
              <a:rPr lang="en-US" sz="6000" b="1" i="0" dirty="0">
                <a:solidFill>
                  <a:srgbClr val="EEE7D8"/>
                </a:solidFill>
                <a:latin typeface="Archivo" pitchFamily="34" charset="0"/>
                <a:ea typeface="Archivo" pitchFamily="34" charset="-122"/>
                <a:cs typeface="Archivo" pitchFamily="34" charset="-120"/>
              </a:rPr>
              <a:t>OPEN</a:t>
            </a:r>
            <a:endParaRPr lang="en-US" sz="6000" dirty="0"/>
          </a:p>
          <a:p>
            <a:pPr algn="l" indent="0" marL="0">
              <a:lnSpc>
                <a:spcPts val="5700"/>
              </a:lnSpc>
              <a:buNone/>
            </a:pPr>
            <a:r>
              <a:rPr lang="en-US" sz="6000" b="1" i="0" dirty="0">
                <a:solidFill>
                  <a:srgbClr val="EEE7D8"/>
                </a:solidFill>
                <a:latin typeface="Archivo" pitchFamily="34" charset="0"/>
                <a:ea typeface="Archivo" pitchFamily="34" charset="-122"/>
                <a:cs typeface="Archivo" pitchFamily="34" charset="-120"/>
              </a:rPr>
              <a:t>CANVAS</a:t>
            </a:r>
            <a:endParaRPr lang="en-US" sz="6000" dirty="0"/>
          </a:p>
        </p:txBody>
      </p:sp>
      <p:sp>
        <p:nvSpPr>
          <p:cNvPr id="5" name="Text 2"/>
          <p:cNvSpPr/>
          <p:nvPr/>
        </p:nvSpPr>
        <p:spPr>
          <a:xfrm>
            <a:off x="812800" y="3829050"/>
            <a:ext cx="5494020" cy="527050"/>
          </a:xfrm>
          <a:prstGeom prst="rect">
            <a:avLst/>
          </a:prstGeom>
          <a:noFill/>
          <a:ln/>
        </p:spPr>
        <p:txBody>
          <a:bodyPr wrap="square" lIns="0" tIns="0" rIns="0" bIns="0" rtlCol="0" anchor="t">
            <a:normAutofit/>
          </a:bodyPr>
          <a:lstStyle/>
          <a:p>
            <a:pPr algn="l" indent="0" marL="0">
              <a:lnSpc>
                <a:spcPts val="3960"/>
              </a:lnSpc>
              <a:buNone/>
            </a:pPr>
            <a:r>
              <a:rPr lang="en-US" sz="3600" i="1" dirty="0">
                <a:solidFill>
                  <a:srgbClr val="EEE7D8"/>
                </a:solidFill>
                <a:latin typeface="Instrument Serif" pitchFamily="18" charset="0"/>
                <a:ea typeface="Instrument Serif" pitchFamily="18" charset="-122"/>
                <a:cs typeface="Instrument Serif" pitchFamily="18" charset="-120"/>
              </a:rPr>
              <a:t>Explore a painting by touch.</a:t>
            </a:r>
            <a:endParaRPr lang="en-US" sz="3600" dirty="0"/>
          </a:p>
        </p:txBody>
      </p:sp>
      <p:sp>
        <p:nvSpPr>
          <p:cNvPr id="6" name="Text 3"/>
          <p:cNvSpPr/>
          <p:nvPr/>
        </p:nvSpPr>
        <p:spPr>
          <a:xfrm>
            <a:off x="812800" y="4584700"/>
            <a:ext cx="536321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CFC8BA"/>
                </a:solidFill>
                <a:latin typeface="Archivo" pitchFamily="34" charset="0"/>
                <a:ea typeface="Archivo" pitchFamily="34" charset="-122"/>
                <a:cs typeface="Archivo" pitchFamily="34" charset="-120"/>
              </a:rPr>
              <a:t>Gerson Avila (CE) · Mauricio Barrientos (EE) · Travis Kanna (BME)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110"/>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4B1F"/>
                </a:solidFill>
                <a:latin typeface="IBM Plex Mono" pitchFamily="49" charset="0"/>
                <a:ea typeface="IBM Plex Mono" pitchFamily="49" charset="-122"/>
                <a:cs typeface="IBM Plex Mono" pitchFamily="49" charset="-120"/>
              </a:rPr>
              <a:t>THE PROBLEM</a:t>
            </a:r>
            <a:endParaRPr lang="en-US" sz="1200" dirty="0"/>
          </a:p>
        </p:txBody>
      </p:sp>
      <p:sp>
        <p:nvSpPr>
          <p:cNvPr id="3" name="Text 1"/>
          <p:cNvSpPr/>
          <p:nvPr>
            <p:ph type="title"/>
          </p:nvPr>
        </p:nvSpPr>
        <p:spPr>
          <a:xfrm>
            <a:off x="812800" y="13271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E7D8"/>
                </a:solidFill>
                <a:latin typeface="Archivo" pitchFamily="34" charset="0"/>
                <a:ea typeface="Archivo" pitchFamily="34" charset="-122"/>
                <a:cs typeface="Archivo" pitchFamily="34" charset="-120"/>
              </a:rPr>
              <a:t>Art is made to be </a:t>
            </a:r>
            <a:r>
              <a:rPr lang="en-US" sz="3600" b="1" i="0" dirty="0">
                <a:solidFill>
                  <a:srgbClr val="FF4B1F"/>
                </a:solidFill>
                <a:latin typeface="Archivo" pitchFamily="34" charset="0"/>
                <a:ea typeface="Archivo" pitchFamily="34" charset="-122"/>
                <a:cs typeface="Archivo" pitchFamily="34" charset="-120"/>
              </a:rPr>
              <a:t>seen.</a:t>
            </a:r>
            <a:endParaRPr lang="en-US" sz="3600" dirty="0"/>
          </a:p>
        </p:txBody>
      </p:sp>
      <p:sp>
        <p:nvSpPr>
          <p:cNvPr id="4" name="Text 2"/>
          <p:cNvSpPr/>
          <p:nvPr/>
        </p:nvSpPr>
        <p:spPr>
          <a:xfrm>
            <a:off x="812800" y="3130550"/>
            <a:ext cx="512775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F4B1F"/>
                </a:solidFill>
                <a:latin typeface="Archivo" pitchFamily="34" charset="0"/>
                <a:ea typeface="Archivo" pitchFamily="34" charset="-122"/>
                <a:cs typeface="Archivo" pitchFamily="34" charset="-120"/>
              </a:rPr>
              <a:t>2.2 billion</a:t>
            </a:r>
            <a:endParaRPr lang="en-US" sz="6000" dirty="0"/>
          </a:p>
        </p:txBody>
      </p:sp>
      <p:sp>
        <p:nvSpPr>
          <p:cNvPr id="5" name="Text 3"/>
          <p:cNvSpPr/>
          <p:nvPr/>
        </p:nvSpPr>
        <p:spPr>
          <a:xfrm>
            <a:off x="812800" y="4019550"/>
            <a:ext cx="512775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8BA"/>
                </a:solidFill>
                <a:latin typeface="Archivo" pitchFamily="34" charset="0"/>
                <a:ea typeface="Archivo" pitchFamily="34" charset="-122"/>
                <a:cs typeface="Archivo" pitchFamily="34" charset="-120"/>
              </a:rPr>
              <a:t>people live with a near or distance vision impairment.</a:t>
            </a:r>
            <a:endParaRPr lang="en-US" sz="1600" dirty="0"/>
          </a:p>
        </p:txBody>
      </p:sp>
      <p:sp>
        <p:nvSpPr>
          <p:cNvPr id="6" name="Text 4"/>
          <p:cNvSpPr/>
          <p:nvPr/>
        </p:nvSpPr>
        <p:spPr>
          <a:xfrm>
            <a:off x="812800" y="4425950"/>
            <a:ext cx="5127752"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87C"/>
                </a:solidFill>
                <a:latin typeface="IBM Plex Mono" pitchFamily="49" charset="0"/>
                <a:ea typeface="IBM Plex Mono" pitchFamily="49" charset="-122"/>
                <a:cs typeface="IBM Plex Mono" pitchFamily="49" charset="-120"/>
              </a:rPr>
              <a:t>Source: World Health Organization, World report on vision</a:t>
            </a:r>
            <a:endParaRPr lang="en-US" sz="1200" dirty="0"/>
          </a:p>
        </p:txBody>
      </p:sp>
      <p:sp>
        <p:nvSpPr>
          <p:cNvPr id="7" name="Text 5"/>
          <p:cNvSpPr/>
          <p:nvPr/>
        </p:nvSpPr>
        <p:spPr>
          <a:xfrm>
            <a:off x="6400800" y="2882900"/>
            <a:ext cx="5127752"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EEE7D8"/>
                </a:solidFill>
                <a:latin typeface="Archivo" pitchFamily="34" charset="0"/>
                <a:ea typeface="Archivo" pitchFamily="34" charset="-122"/>
                <a:cs typeface="Archivo" pitchFamily="34" charset="-120"/>
              </a:rPr>
              <a:t>Paintings can’t be touched.</a:t>
            </a:r>
            <a:endParaRPr lang="en-US" sz="2200" dirty="0"/>
          </a:p>
        </p:txBody>
      </p:sp>
      <p:sp>
        <p:nvSpPr>
          <p:cNvPr id="8" name="Text 6"/>
          <p:cNvSpPr/>
          <p:nvPr/>
        </p:nvSpPr>
        <p:spPr>
          <a:xfrm>
            <a:off x="6400800" y="3276600"/>
            <a:ext cx="5127752"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8BA"/>
                </a:solidFill>
                <a:latin typeface="Archivo" pitchFamily="34" charset="0"/>
                <a:ea typeface="Archivo" pitchFamily="34" charset="-122"/>
                <a:cs typeface="Archivo" pitchFamily="34" charset="-120"/>
              </a:rPr>
              <a:t>Museums keep hands off the art, so a painting’s detail stays out of reach.</a:t>
            </a:r>
            <a:endParaRPr lang="en-US" sz="1600" dirty="0"/>
          </a:p>
        </p:txBody>
      </p:sp>
      <p:sp>
        <p:nvSpPr>
          <p:cNvPr id="9" name="Text 7"/>
          <p:cNvSpPr/>
          <p:nvPr/>
        </p:nvSpPr>
        <p:spPr>
          <a:xfrm>
            <a:off x="6400800" y="4140200"/>
            <a:ext cx="5127752"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EEE7D8"/>
                </a:solidFill>
                <a:latin typeface="Archivo" pitchFamily="34" charset="0"/>
                <a:ea typeface="Archivo" pitchFamily="34" charset="-122"/>
                <a:cs typeface="Archivo" pitchFamily="34" charset="-120"/>
              </a:rPr>
              <a:t>Audio guides are one-way.</a:t>
            </a:r>
            <a:endParaRPr lang="en-US" sz="2200" dirty="0"/>
          </a:p>
        </p:txBody>
      </p:sp>
      <p:sp>
        <p:nvSpPr>
          <p:cNvPr id="10" name="Text 8"/>
          <p:cNvSpPr/>
          <p:nvPr/>
        </p:nvSpPr>
        <p:spPr>
          <a:xfrm>
            <a:off x="6400800" y="4533900"/>
            <a:ext cx="5127752"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8BA"/>
                </a:solidFill>
                <a:latin typeface="Archivo" pitchFamily="34" charset="0"/>
                <a:ea typeface="Archivo" pitchFamily="34" charset="-122"/>
                <a:cs typeface="Archivo" pitchFamily="34" charset="-120"/>
              </a:rPr>
              <a:t>One voice, one order, one pace. You hear about a painting; you don’t explore it.</a:t>
            </a:r>
            <a:endParaRPr lang="en-US" sz="1600" dirty="0"/>
          </a:p>
        </p:txBody>
      </p:sp>
      <p:sp>
        <p:nvSpPr>
          <p:cNvPr id="11" name="Text 9"/>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87C"/>
                </a:solidFill>
                <a:latin typeface="IBM Plex Mono" pitchFamily="49" charset="0"/>
                <a:ea typeface="IBM Plex Mono" pitchFamily="49" charset="-122"/>
                <a:cs typeface="IBM Plex Mono" pitchFamily="49" charset="-120"/>
              </a:rPr>
              <a:t>Open Canvas · DS+X 2026 Art Hack</a:t>
            </a:r>
            <a:endParaRPr lang="en-US" sz="1200" dirty="0"/>
          </a:p>
        </p:txBody>
      </p:sp>
      <p:sp>
        <p:nvSpPr>
          <p:cNvPr id="12" name="Text 10"/>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887C"/>
                </a:solidFill>
                <a:latin typeface="IBM Plex Mono" pitchFamily="49" charset="0"/>
                <a:ea typeface="IBM Plex Mono" pitchFamily="49" charset="-122"/>
                <a:cs typeface="IBM Plex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E7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360F"/>
                </a:solidFill>
                <a:latin typeface="IBM Plex Mono" pitchFamily="49" charset="0"/>
                <a:ea typeface="IBM Plex Mono" pitchFamily="49" charset="-122"/>
                <a:cs typeface="IBM Plex Mono" pitchFamily="49" charset="-120"/>
              </a:rPr>
              <a:t>OUR ANSWER</a:t>
            </a:r>
            <a:endParaRPr lang="en-US" sz="1200" dirty="0"/>
          </a:p>
        </p:txBody>
      </p:sp>
      <p:sp>
        <p:nvSpPr>
          <p:cNvPr id="3" name="Text 1"/>
          <p:cNvSpPr/>
          <p:nvPr>
            <p:ph type="title"/>
          </p:nvPr>
        </p:nvSpPr>
        <p:spPr>
          <a:xfrm>
            <a:off x="812800" y="1276350"/>
            <a:ext cx="10883392" cy="102870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110"/>
                </a:solidFill>
                <a:latin typeface="Archivo" pitchFamily="34" charset="0"/>
                <a:ea typeface="Archivo" pitchFamily="34" charset="-122"/>
                <a:cs typeface="Archivo" pitchFamily="34" charset="-120"/>
              </a:rPr>
              <a:t>Put a hand on the painting. Hear what’s under your fingertip.</a:t>
            </a:r>
            <a:endParaRPr lang="en-US" sz="3600" dirty="0"/>
          </a:p>
        </p:txBody>
      </p:sp>
      <p:pic>
        <p:nvPicPr>
          <p:cNvPr id="4" name="Image 0" descr="A blindfolded tester wearing headphones rests her hands on the printed painting while a teammate watches the laptop">    </p:cNvPr>
          <p:cNvPicPr>
            <a:picLocks noChangeAspect="1"/>
          </p:cNvPicPr>
          <p:nvPr/>
        </p:nvPicPr>
        <p:blipFill>
          <a:blip r:embed="rId1"/>
          <a:srcRect l="26" r="26" t="0" b="0"/>
          <a:stretch/>
        </p:blipFill>
        <p:spPr>
          <a:xfrm>
            <a:off x="812800" y="2533650"/>
            <a:ext cx="5461000" cy="3073400"/>
          </a:xfrm>
          <a:prstGeom prst="roundRect">
            <a:avLst>
              <a:gd name="adj" fmla="val 3306"/>
            </a:avLst>
          </a:prstGeom>
        </p:spPr>
      </p:pic>
      <p:sp>
        <p:nvSpPr>
          <p:cNvPr id="5" name="Text 2"/>
          <p:cNvSpPr/>
          <p:nvPr/>
        </p:nvSpPr>
        <p:spPr>
          <a:xfrm>
            <a:off x="6680200" y="3089275"/>
            <a:ext cx="4839970"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631"/>
                </a:solidFill>
                <a:latin typeface="Archivo" pitchFamily="34" charset="0"/>
                <a:ea typeface="Archivo" pitchFamily="34" charset="-122"/>
                <a:cs typeface="Archivo" pitchFamily="34" charset="-120"/>
              </a:rPr>
              <a:t>Open Canvas turns a printed painting into something blind and low-vision people can explore on their own: in any order, at their own pace.</a:t>
            </a:r>
            <a:endParaRPr lang="en-US" sz="1600" dirty="0"/>
          </a:p>
        </p:txBody>
      </p:sp>
      <p:sp>
        <p:nvSpPr>
          <p:cNvPr id="6" name="Text 3"/>
          <p:cNvSpPr/>
          <p:nvPr/>
        </p:nvSpPr>
        <p:spPr>
          <a:xfrm>
            <a:off x="6680200" y="4105275"/>
            <a:ext cx="4839970"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631"/>
                </a:solidFill>
                <a:latin typeface="Archivo" pitchFamily="34" charset="0"/>
                <a:ea typeface="Archivo" pitchFamily="34" charset="-122"/>
                <a:cs typeface="Archivo" pitchFamily="34" charset="-120"/>
              </a:rPr>
              <a:t>No screen, menu or keyboard for the visitor. Swap the printed page and it recognizes the new painting.</a:t>
            </a:r>
            <a:endParaRPr lang="en-US" sz="1600" dirty="0"/>
          </a:p>
        </p:txBody>
      </p:sp>
      <p:sp>
        <p:nvSpPr>
          <p:cNvPr id="7" name="Text 4"/>
          <p:cNvSpPr/>
          <p:nvPr/>
        </p:nvSpPr>
        <p:spPr>
          <a:xfrm>
            <a:off x="6680200" y="4841875"/>
            <a:ext cx="483997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55C"/>
                </a:solidFill>
                <a:latin typeface="IBM Plex Mono" pitchFamily="49" charset="0"/>
                <a:ea typeface="IBM Plex Mono" pitchFamily="49" charset="-122"/>
                <a:cs typeface="IBM Plex Mono" pitchFamily="49" charset="-120"/>
              </a:rPr>
              <a:t>Demo: a blindfolded tester explores Sunset Hills.</a:t>
            </a:r>
            <a:endParaRPr lang="en-US" sz="1200" dirty="0"/>
          </a:p>
        </p:txBody>
      </p:sp>
      <p:sp>
        <p:nvSpPr>
          <p:cNvPr id="8" name="Text 5"/>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55C"/>
                </a:solidFill>
                <a:latin typeface="IBM Plex Mono" pitchFamily="49" charset="0"/>
                <a:ea typeface="IBM Plex Mono" pitchFamily="49" charset="-122"/>
                <a:cs typeface="IBM Plex Mono" pitchFamily="49" charset="-120"/>
              </a:rPr>
              <a:t>Open Canvas · DS+X 2026 Art Hack</a:t>
            </a:r>
            <a:endParaRPr lang="en-US" sz="1200" dirty="0"/>
          </a:p>
        </p:txBody>
      </p:sp>
      <p:sp>
        <p:nvSpPr>
          <p:cNvPr id="9" name="Text 6"/>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55C"/>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7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360F"/>
                </a:solidFill>
                <a:latin typeface="IBM Plex Mono" pitchFamily="49" charset="0"/>
                <a:ea typeface="IBM Plex Mono" pitchFamily="49" charset="-122"/>
                <a:cs typeface="IBM Plex Mono" pitchFamily="49" charset="-120"/>
              </a:rPr>
              <a:t>FEATURES</a:t>
            </a:r>
            <a:endParaRPr lang="en-US" sz="1200" dirty="0"/>
          </a:p>
        </p:txBody>
      </p:sp>
      <p:sp>
        <p:nvSpPr>
          <p:cNvPr id="3" name="Text 1"/>
          <p:cNvSpPr/>
          <p:nvPr>
            <p:ph type="title"/>
          </p:nvPr>
        </p:nvSpPr>
        <p:spPr>
          <a:xfrm>
            <a:off x="812800" y="12763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110"/>
                </a:solidFill>
                <a:latin typeface="Archivo" pitchFamily="34" charset="0"/>
                <a:ea typeface="Archivo" pitchFamily="34" charset="-122"/>
                <a:cs typeface="Archivo" pitchFamily="34" charset="-120"/>
              </a:rPr>
              <a:t>Everything happens under one fingertip</a:t>
            </a:r>
            <a:endParaRPr lang="en-US" sz="3600" dirty="0"/>
          </a:p>
        </p:txBody>
      </p:sp>
      <p:sp>
        <p:nvSpPr>
          <p:cNvPr id="4" name="Shape 2"/>
          <p:cNvSpPr/>
          <p:nvPr/>
        </p:nvSpPr>
        <p:spPr>
          <a:xfrm>
            <a:off x="812800" y="2038350"/>
            <a:ext cx="10566400" cy="0"/>
          </a:xfrm>
          <a:prstGeom prst="line">
            <a:avLst/>
          </a:prstGeom>
          <a:noFill/>
          <a:ln w="12700">
            <a:solidFill>
              <a:srgbClr val="121110"/>
            </a:solidFill>
            <a:prstDash val="solid"/>
          </a:ln>
        </p:spPr>
      </p:sp>
      <p:sp>
        <p:nvSpPr>
          <p:cNvPr id="5" name="Text 3"/>
          <p:cNvSpPr/>
          <p:nvPr/>
        </p:nvSpPr>
        <p:spPr>
          <a:xfrm>
            <a:off x="812800" y="2159000"/>
            <a:ext cx="3924300" cy="35560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1110"/>
                </a:solidFill>
                <a:latin typeface="Archivo" pitchFamily="34" charset="0"/>
                <a:ea typeface="Archivo" pitchFamily="34" charset="-122"/>
                <a:cs typeface="Archivo" pitchFamily="34" charset="-120"/>
              </a:rPr>
              <a:t>Overview first</a:t>
            </a:r>
            <a:endParaRPr lang="en-US" sz="2200" dirty="0"/>
          </a:p>
        </p:txBody>
      </p:sp>
      <p:sp>
        <p:nvSpPr>
          <p:cNvPr id="6" name="Text 4"/>
          <p:cNvSpPr/>
          <p:nvPr/>
        </p:nvSpPr>
        <p:spPr>
          <a:xfrm>
            <a:off x="4826000" y="2184400"/>
            <a:ext cx="6749796"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631"/>
                </a:solidFill>
                <a:latin typeface="Archivo" pitchFamily="34" charset="0"/>
                <a:ea typeface="Archivo" pitchFamily="34" charset="-122"/>
                <a:cs typeface="Archivo" pitchFamily="34" charset="-120"/>
              </a:rPr>
              <a:t>A voice names the painting and maps out the scene.</a:t>
            </a:r>
            <a:endParaRPr lang="en-US" sz="1600" dirty="0"/>
          </a:p>
        </p:txBody>
      </p:sp>
      <p:sp>
        <p:nvSpPr>
          <p:cNvPr id="7" name="Shape 5"/>
          <p:cNvSpPr/>
          <p:nvPr/>
        </p:nvSpPr>
        <p:spPr>
          <a:xfrm>
            <a:off x="812800" y="2609850"/>
            <a:ext cx="10566400" cy="0"/>
          </a:xfrm>
          <a:prstGeom prst="line">
            <a:avLst/>
          </a:prstGeom>
          <a:noFill/>
          <a:ln w="12700">
            <a:solidFill>
              <a:srgbClr val="121110"/>
            </a:solidFill>
            <a:prstDash val="solid"/>
          </a:ln>
        </p:spPr>
      </p:sp>
      <p:sp>
        <p:nvSpPr>
          <p:cNvPr id="8" name="Text 6"/>
          <p:cNvSpPr/>
          <p:nvPr/>
        </p:nvSpPr>
        <p:spPr>
          <a:xfrm>
            <a:off x="812800" y="2844800"/>
            <a:ext cx="3924300" cy="35560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1110"/>
                </a:solidFill>
                <a:latin typeface="Archivo" pitchFamily="34" charset="0"/>
                <a:ea typeface="Archivo" pitchFamily="34" charset="-122"/>
                <a:cs typeface="Archivo" pitchFamily="34" charset="-120"/>
              </a:rPr>
              <a:t>Color becomes music</a:t>
            </a:r>
            <a:endParaRPr lang="en-US" sz="2200" dirty="0"/>
          </a:p>
        </p:txBody>
      </p:sp>
      <p:sp>
        <p:nvSpPr>
          <p:cNvPr id="9" name="Text 7"/>
          <p:cNvSpPr/>
          <p:nvPr/>
        </p:nvSpPr>
        <p:spPr>
          <a:xfrm>
            <a:off x="4826000" y="2730500"/>
            <a:ext cx="6749796"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631"/>
                </a:solidFill>
                <a:latin typeface="Archivo" pitchFamily="34" charset="0"/>
                <a:ea typeface="Archivo" pitchFamily="34" charset="-122"/>
                <a:cs typeface="Archivo" pitchFamily="34" charset="-120"/>
              </a:rPr>
              <a:t>Blue harp, warm strings, green woodwind, pale choir, dark cello. Brighter plays higher.</a:t>
            </a:r>
            <a:endParaRPr lang="en-US" sz="1600" dirty="0"/>
          </a:p>
        </p:txBody>
      </p:sp>
      <p:sp>
        <p:nvSpPr>
          <p:cNvPr id="10" name="Shape 8"/>
          <p:cNvSpPr/>
          <p:nvPr/>
        </p:nvSpPr>
        <p:spPr>
          <a:xfrm>
            <a:off x="812800" y="3409950"/>
            <a:ext cx="10566400" cy="0"/>
          </a:xfrm>
          <a:prstGeom prst="line">
            <a:avLst/>
          </a:prstGeom>
          <a:noFill/>
          <a:ln w="12700">
            <a:solidFill>
              <a:srgbClr val="121110"/>
            </a:solidFill>
            <a:prstDash val="solid"/>
          </a:ln>
        </p:spPr>
      </p:sp>
      <p:sp>
        <p:nvSpPr>
          <p:cNvPr id="11" name="Text 9"/>
          <p:cNvSpPr/>
          <p:nvPr/>
        </p:nvSpPr>
        <p:spPr>
          <a:xfrm>
            <a:off x="812800" y="3530600"/>
            <a:ext cx="3924300" cy="35560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1110"/>
                </a:solidFill>
                <a:latin typeface="Archivo" pitchFamily="34" charset="0"/>
                <a:ea typeface="Archivo" pitchFamily="34" charset="-122"/>
                <a:cs typeface="Archivo" pitchFamily="34" charset="-120"/>
              </a:rPr>
              <a:t>Objects make sounds</a:t>
            </a:r>
            <a:endParaRPr lang="en-US" sz="2200" dirty="0"/>
          </a:p>
        </p:txBody>
      </p:sp>
      <p:sp>
        <p:nvSpPr>
          <p:cNvPr id="12" name="Text 10"/>
          <p:cNvSpPr/>
          <p:nvPr/>
        </p:nvSpPr>
        <p:spPr>
          <a:xfrm>
            <a:off x="4826000" y="3556000"/>
            <a:ext cx="6749796"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631"/>
                </a:solidFill>
                <a:latin typeface="Archivo" pitchFamily="34" charset="0"/>
                <a:ea typeface="Archivo" pitchFamily="34" charset="-122"/>
                <a:cs typeface="Archivo" pitchFamily="34" charset="-120"/>
              </a:rPr>
              <a:t>Leaves rustle in the tree, crickets chirp in the field.</a:t>
            </a:r>
            <a:endParaRPr lang="en-US" sz="1600" dirty="0"/>
          </a:p>
        </p:txBody>
      </p:sp>
      <p:sp>
        <p:nvSpPr>
          <p:cNvPr id="13" name="Shape 11"/>
          <p:cNvSpPr/>
          <p:nvPr/>
        </p:nvSpPr>
        <p:spPr>
          <a:xfrm>
            <a:off x="812800" y="3981450"/>
            <a:ext cx="10566400" cy="0"/>
          </a:xfrm>
          <a:prstGeom prst="line">
            <a:avLst/>
          </a:prstGeom>
          <a:noFill/>
          <a:ln w="12700">
            <a:solidFill>
              <a:srgbClr val="121110"/>
            </a:solidFill>
            <a:prstDash val="solid"/>
          </a:ln>
        </p:spPr>
      </p:sp>
      <p:sp>
        <p:nvSpPr>
          <p:cNvPr id="14" name="Text 12"/>
          <p:cNvSpPr/>
          <p:nvPr/>
        </p:nvSpPr>
        <p:spPr>
          <a:xfrm>
            <a:off x="812800" y="4102100"/>
            <a:ext cx="3924300" cy="35560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8360F"/>
                </a:solidFill>
                <a:latin typeface="Archivo" pitchFamily="34" charset="0"/>
                <a:ea typeface="Archivo" pitchFamily="34" charset="-122"/>
                <a:cs typeface="Archivo" pitchFamily="34" charset="-120"/>
              </a:rPr>
              <a:t>Edges are felt</a:t>
            </a:r>
            <a:endParaRPr lang="en-US" sz="2200" dirty="0"/>
          </a:p>
        </p:txBody>
      </p:sp>
      <p:sp>
        <p:nvSpPr>
          <p:cNvPr id="15" name="Text 13"/>
          <p:cNvSpPr/>
          <p:nvPr/>
        </p:nvSpPr>
        <p:spPr>
          <a:xfrm>
            <a:off x="4826000" y="4127500"/>
            <a:ext cx="6749796"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631"/>
                </a:solidFill>
                <a:latin typeface="Archivo" pitchFamily="34" charset="0"/>
                <a:ea typeface="Archivo" pitchFamily="34" charset="-122"/>
                <a:cs typeface="Archivo" pitchFamily="34" charset="-120"/>
              </a:rPr>
              <a:t>A fingertip motor buzzes when you cross an outline.</a:t>
            </a:r>
            <a:endParaRPr lang="en-US" sz="1600" dirty="0"/>
          </a:p>
        </p:txBody>
      </p:sp>
      <p:sp>
        <p:nvSpPr>
          <p:cNvPr id="16" name="Shape 14"/>
          <p:cNvSpPr/>
          <p:nvPr/>
        </p:nvSpPr>
        <p:spPr>
          <a:xfrm>
            <a:off x="812800" y="4552950"/>
            <a:ext cx="10566400" cy="0"/>
          </a:xfrm>
          <a:prstGeom prst="line">
            <a:avLst/>
          </a:prstGeom>
          <a:noFill/>
          <a:ln w="12700">
            <a:solidFill>
              <a:srgbClr val="121110"/>
            </a:solidFill>
            <a:prstDash val="solid"/>
          </a:ln>
        </p:spPr>
      </p:sp>
      <p:sp>
        <p:nvSpPr>
          <p:cNvPr id="17" name="Text 15"/>
          <p:cNvSpPr/>
          <p:nvPr/>
        </p:nvSpPr>
        <p:spPr>
          <a:xfrm>
            <a:off x="812800" y="4673600"/>
            <a:ext cx="3924300" cy="35560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1110"/>
                </a:solidFill>
                <a:latin typeface="Archivo" pitchFamily="34" charset="0"/>
                <a:ea typeface="Archivo" pitchFamily="34" charset="-122"/>
                <a:cs typeface="Archivo" pitchFamily="34" charset="-120"/>
              </a:rPr>
              <a:t>Rest to hear more</a:t>
            </a:r>
            <a:endParaRPr lang="en-US" sz="2200" dirty="0"/>
          </a:p>
        </p:txBody>
      </p:sp>
      <p:sp>
        <p:nvSpPr>
          <p:cNvPr id="18" name="Text 16"/>
          <p:cNvSpPr/>
          <p:nvPr/>
        </p:nvSpPr>
        <p:spPr>
          <a:xfrm>
            <a:off x="4826000" y="4699000"/>
            <a:ext cx="6749796"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631"/>
                </a:solidFill>
                <a:latin typeface="Archivo" pitchFamily="34" charset="0"/>
                <a:ea typeface="Archivo" pitchFamily="34" charset="-122"/>
                <a:cs typeface="Archivo" pitchFamily="34" charset="-120"/>
              </a:rPr>
              <a:t>Hold still for 2.5 seconds and a voice describes that spot.</a:t>
            </a:r>
            <a:endParaRPr lang="en-US" sz="1600" dirty="0"/>
          </a:p>
        </p:txBody>
      </p:sp>
      <p:sp>
        <p:nvSpPr>
          <p:cNvPr id="19" name="Shape 17"/>
          <p:cNvSpPr/>
          <p:nvPr/>
        </p:nvSpPr>
        <p:spPr>
          <a:xfrm>
            <a:off x="812800" y="5124450"/>
            <a:ext cx="10566400" cy="0"/>
          </a:xfrm>
          <a:prstGeom prst="line">
            <a:avLst/>
          </a:prstGeom>
          <a:noFill/>
          <a:ln w="12700">
            <a:solidFill>
              <a:srgbClr val="121110"/>
            </a:solidFill>
            <a:prstDash val="solid"/>
          </a:ln>
        </p:spPr>
      </p:sp>
      <p:sp>
        <p:nvSpPr>
          <p:cNvPr id="20" name="Shape 18"/>
          <p:cNvSpPr/>
          <p:nvPr/>
        </p:nvSpPr>
        <p:spPr>
          <a:xfrm>
            <a:off x="812800" y="5695950"/>
            <a:ext cx="10566400" cy="0"/>
          </a:xfrm>
          <a:prstGeom prst="line">
            <a:avLst/>
          </a:prstGeom>
          <a:noFill/>
          <a:ln w="12700">
            <a:solidFill>
              <a:srgbClr val="121110"/>
            </a:solidFill>
            <a:prstDash val="solid"/>
          </a:ln>
        </p:spPr>
      </p:sp>
      <p:sp>
        <p:nvSpPr>
          <p:cNvPr id="21" name="Text 19"/>
          <p:cNvSpPr/>
          <p:nvPr/>
        </p:nvSpPr>
        <p:spPr>
          <a:xfrm>
            <a:off x="812800" y="5245100"/>
            <a:ext cx="3924300" cy="35560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1110"/>
                </a:solidFill>
                <a:latin typeface="Archivo" pitchFamily="34" charset="0"/>
                <a:ea typeface="Archivo" pitchFamily="34" charset="-122"/>
                <a:cs typeface="Archivo" pitchFamily="34" charset="-120"/>
              </a:rPr>
              <a:t>Swap the page</a:t>
            </a:r>
            <a:endParaRPr lang="en-US" sz="2200" dirty="0"/>
          </a:p>
        </p:txBody>
      </p:sp>
      <p:sp>
        <p:nvSpPr>
          <p:cNvPr id="22" name="Text 20"/>
          <p:cNvSpPr/>
          <p:nvPr/>
        </p:nvSpPr>
        <p:spPr>
          <a:xfrm>
            <a:off x="4826000" y="5270500"/>
            <a:ext cx="6749796"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631"/>
                </a:solidFill>
                <a:latin typeface="Archivo" pitchFamily="34" charset="0"/>
                <a:ea typeface="Archivo" pitchFamily="34" charset="-122"/>
                <a:cs typeface="Archivo" pitchFamily="34" charset="-120"/>
              </a:rPr>
              <a:t>Four paintings, each recognized by its printed markers.</a:t>
            </a:r>
            <a:endParaRPr lang="en-US" sz="1600" dirty="0"/>
          </a:p>
        </p:txBody>
      </p:sp>
      <p:sp>
        <p:nvSpPr>
          <p:cNvPr id="23" name="Text 21"/>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55C"/>
                </a:solidFill>
                <a:latin typeface="IBM Plex Mono" pitchFamily="49" charset="0"/>
                <a:ea typeface="IBM Plex Mono" pitchFamily="49" charset="-122"/>
                <a:cs typeface="IBM Plex Mono" pitchFamily="49" charset="-120"/>
              </a:rPr>
              <a:t>Open Canvas · DS+X 2026 Art Hack</a:t>
            </a:r>
            <a:endParaRPr lang="en-US" sz="1200" dirty="0"/>
          </a:p>
        </p:txBody>
      </p:sp>
      <p:sp>
        <p:nvSpPr>
          <p:cNvPr id="24" name="Text 22"/>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55C"/>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110"/>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4B1F"/>
                </a:solidFill>
                <a:latin typeface="IBM Plex Mono" pitchFamily="49" charset="0"/>
                <a:ea typeface="IBM Plex Mono" pitchFamily="49" charset="-122"/>
                <a:cs typeface="IBM Plex Mono" pitchFamily="49" charset="-120"/>
              </a:rPr>
              <a:t>HOW IT WORKS</a:t>
            </a:r>
            <a:endParaRPr lang="en-US" sz="1200" dirty="0"/>
          </a:p>
        </p:txBody>
      </p:sp>
      <p:sp>
        <p:nvSpPr>
          <p:cNvPr id="3" name="Text 1"/>
          <p:cNvSpPr/>
          <p:nvPr>
            <p:ph type="title"/>
          </p:nvPr>
        </p:nvSpPr>
        <p:spPr>
          <a:xfrm>
            <a:off x="812800" y="12763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E7D8"/>
                </a:solidFill>
                <a:latin typeface="Archivo" pitchFamily="34" charset="0"/>
                <a:ea typeface="Archivo" pitchFamily="34" charset="-122"/>
                <a:cs typeface="Archivo" pitchFamily="34" charset="-120"/>
              </a:rPr>
              <a:t>From fingertip to sound, every frame</a:t>
            </a:r>
            <a:endParaRPr lang="en-US" sz="3600" dirty="0"/>
          </a:p>
        </p:txBody>
      </p:sp>
      <p:pic>
        <p:nvPicPr>
          <p:cNvPr id="4" name="Image 0" descr="Live camera view of a hand on the printed painting with the tracked hand skeleton and an orange outline marking the painting">    </p:cNvPr>
          <p:cNvPicPr>
            <a:picLocks noChangeAspect="1"/>
          </p:cNvPicPr>
          <p:nvPr/>
        </p:nvPicPr>
        <p:blipFill>
          <a:blip r:embed="rId1"/>
          <a:srcRect l="0" r="0" t="26" b="26"/>
          <a:stretch/>
        </p:blipFill>
        <p:spPr>
          <a:xfrm>
            <a:off x="812800" y="2032000"/>
            <a:ext cx="4826000" cy="2679700"/>
          </a:xfrm>
          <a:prstGeom prst="roundRect">
            <a:avLst>
              <a:gd name="adj" fmla="val 3791"/>
            </a:avLst>
          </a:prstGeom>
        </p:spPr>
      </p:pic>
      <p:sp>
        <p:nvSpPr>
          <p:cNvPr id="5" name="Text 2"/>
          <p:cNvSpPr/>
          <p:nvPr/>
        </p:nvSpPr>
        <p:spPr>
          <a:xfrm>
            <a:off x="812800" y="4813300"/>
            <a:ext cx="4970780"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87C"/>
                </a:solidFill>
                <a:latin typeface="IBM Plex Mono" pitchFamily="49" charset="0"/>
                <a:ea typeface="IBM Plex Mono" pitchFamily="49" charset="-122"/>
                <a:cs typeface="IBM Plex Mono" pitchFamily="49" charset="-120"/>
              </a:rPr>
              <a:t>Live view: a hand hides one marker, so the last good mapping is reused.</a:t>
            </a:r>
            <a:endParaRPr lang="en-US" sz="1200" dirty="0"/>
          </a:p>
        </p:txBody>
      </p:sp>
      <p:sp>
        <p:nvSpPr>
          <p:cNvPr id="6" name="Text 3"/>
          <p:cNvSpPr/>
          <p:nvPr/>
        </p:nvSpPr>
        <p:spPr>
          <a:xfrm>
            <a:off x="6045200" y="2209800"/>
            <a:ext cx="406400"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4B1F"/>
                </a:solidFill>
                <a:latin typeface="IBM Plex Mono" pitchFamily="49" charset="0"/>
                <a:ea typeface="IBM Plex Mono" pitchFamily="49" charset="-122"/>
                <a:cs typeface="IBM Plex Mono" pitchFamily="49" charset="-120"/>
              </a:rPr>
              <a:t>01</a:t>
            </a:r>
            <a:endParaRPr lang="en-US" sz="1600" dirty="0"/>
          </a:p>
        </p:txBody>
      </p:sp>
      <p:sp>
        <p:nvSpPr>
          <p:cNvPr id="7" name="Text 4"/>
          <p:cNvSpPr/>
          <p:nvPr/>
        </p:nvSpPr>
        <p:spPr>
          <a:xfrm>
            <a:off x="6553200" y="2209800"/>
            <a:ext cx="4970780"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E7D8"/>
                </a:solidFill>
                <a:latin typeface="Archivo" pitchFamily="34" charset="0"/>
                <a:ea typeface="Archivo" pitchFamily="34" charset="-122"/>
                <a:cs typeface="Archivo" pitchFamily="34" charset="-120"/>
              </a:rPr>
              <a:t>An overhead webcam films the page at 30 fps.</a:t>
            </a:r>
            <a:endParaRPr lang="en-US" sz="1600" dirty="0"/>
          </a:p>
        </p:txBody>
      </p:sp>
      <p:sp>
        <p:nvSpPr>
          <p:cNvPr id="8" name="Text 5"/>
          <p:cNvSpPr/>
          <p:nvPr/>
        </p:nvSpPr>
        <p:spPr>
          <a:xfrm>
            <a:off x="6045200" y="2641600"/>
            <a:ext cx="406400" cy="5842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4B1F"/>
                </a:solidFill>
                <a:latin typeface="IBM Plex Mono" pitchFamily="49" charset="0"/>
                <a:ea typeface="IBM Plex Mono" pitchFamily="49" charset="-122"/>
                <a:cs typeface="IBM Plex Mono" pitchFamily="49" charset="-120"/>
              </a:rPr>
              <a:t>02</a:t>
            </a:r>
            <a:endParaRPr lang="en-US" sz="1600" dirty="0"/>
          </a:p>
        </p:txBody>
      </p:sp>
      <p:sp>
        <p:nvSpPr>
          <p:cNvPr id="9" name="Text 6"/>
          <p:cNvSpPr/>
          <p:nvPr/>
        </p:nvSpPr>
        <p:spPr>
          <a:xfrm>
            <a:off x="6553200" y="2641600"/>
            <a:ext cx="4970780"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E7D8"/>
                </a:solidFill>
                <a:latin typeface="Archivo" pitchFamily="34" charset="0"/>
                <a:ea typeface="Archivo" pitchFamily="34" charset="-122"/>
                <a:cs typeface="Archivo" pitchFamily="34" charset="-120"/>
              </a:rPr>
              <a:t>Four ArUco markers identify the painting and map camera pixels onto it.</a:t>
            </a:r>
            <a:endParaRPr lang="en-US" sz="1600" dirty="0"/>
          </a:p>
        </p:txBody>
      </p:sp>
      <p:sp>
        <p:nvSpPr>
          <p:cNvPr id="10" name="Text 7"/>
          <p:cNvSpPr/>
          <p:nvPr/>
        </p:nvSpPr>
        <p:spPr>
          <a:xfrm>
            <a:off x="6045200" y="3352800"/>
            <a:ext cx="406400"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4B1F"/>
                </a:solidFill>
                <a:latin typeface="IBM Plex Mono" pitchFamily="49" charset="0"/>
                <a:ea typeface="IBM Plex Mono" pitchFamily="49" charset="-122"/>
                <a:cs typeface="IBM Plex Mono" pitchFamily="49" charset="-120"/>
              </a:rPr>
              <a:t>03</a:t>
            </a:r>
            <a:endParaRPr lang="en-US" sz="1600" dirty="0"/>
          </a:p>
        </p:txBody>
      </p:sp>
      <p:sp>
        <p:nvSpPr>
          <p:cNvPr id="11" name="Text 8"/>
          <p:cNvSpPr/>
          <p:nvPr/>
        </p:nvSpPr>
        <p:spPr>
          <a:xfrm>
            <a:off x="6553200" y="3352800"/>
            <a:ext cx="4970780"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E7D8"/>
                </a:solidFill>
                <a:latin typeface="Archivo" pitchFamily="34" charset="0"/>
                <a:ea typeface="Archivo" pitchFamily="34" charset="-122"/>
                <a:cs typeface="Archivo" pitchFamily="34" charset="-120"/>
              </a:rPr>
              <a:t>MediaPipe finds the index fingertip.</a:t>
            </a:r>
            <a:endParaRPr lang="en-US" sz="1600" dirty="0"/>
          </a:p>
        </p:txBody>
      </p:sp>
      <p:sp>
        <p:nvSpPr>
          <p:cNvPr id="12" name="Text 9"/>
          <p:cNvSpPr/>
          <p:nvPr/>
        </p:nvSpPr>
        <p:spPr>
          <a:xfrm>
            <a:off x="6045200" y="3784600"/>
            <a:ext cx="406400" cy="5842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4B1F"/>
                </a:solidFill>
                <a:latin typeface="IBM Plex Mono" pitchFamily="49" charset="0"/>
                <a:ea typeface="IBM Plex Mono" pitchFamily="49" charset="-122"/>
                <a:cs typeface="IBM Plex Mono" pitchFamily="49" charset="-120"/>
              </a:rPr>
              <a:t>04</a:t>
            </a:r>
            <a:endParaRPr lang="en-US" sz="1600" dirty="0"/>
          </a:p>
        </p:txBody>
      </p:sp>
      <p:sp>
        <p:nvSpPr>
          <p:cNvPr id="13" name="Text 10"/>
          <p:cNvSpPr/>
          <p:nvPr/>
        </p:nvSpPr>
        <p:spPr>
          <a:xfrm>
            <a:off x="6553200" y="3784600"/>
            <a:ext cx="4970780"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E7D8"/>
                </a:solidFill>
                <a:latin typeface="Archivo" pitchFamily="34" charset="0"/>
                <a:ea typeface="Archivo" pitchFamily="34" charset="-122"/>
                <a:cs typeface="Archivo" pitchFamily="34" charset="-120"/>
              </a:rPr>
              <a:t>We look up color, region and edge in the clean digital painting.</a:t>
            </a:r>
            <a:endParaRPr lang="en-US" sz="1600" dirty="0"/>
          </a:p>
        </p:txBody>
      </p:sp>
      <p:sp>
        <p:nvSpPr>
          <p:cNvPr id="14" name="Text 11"/>
          <p:cNvSpPr/>
          <p:nvPr/>
        </p:nvSpPr>
        <p:spPr>
          <a:xfrm>
            <a:off x="6045200" y="4495800"/>
            <a:ext cx="406400" cy="5842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4B1F"/>
                </a:solidFill>
                <a:latin typeface="IBM Plex Mono" pitchFamily="49" charset="0"/>
                <a:ea typeface="IBM Plex Mono" pitchFamily="49" charset="-122"/>
                <a:cs typeface="IBM Plex Mono" pitchFamily="49" charset="-120"/>
              </a:rPr>
              <a:t>05</a:t>
            </a:r>
            <a:endParaRPr lang="en-US" sz="1600" dirty="0"/>
          </a:p>
        </p:txBody>
      </p:sp>
      <p:sp>
        <p:nvSpPr>
          <p:cNvPr id="15" name="Text 12"/>
          <p:cNvSpPr/>
          <p:nvPr/>
        </p:nvSpPr>
        <p:spPr>
          <a:xfrm>
            <a:off x="6553200" y="4495800"/>
            <a:ext cx="4970780"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E7D8"/>
                </a:solidFill>
                <a:latin typeface="Archivo" pitchFamily="34" charset="0"/>
                <a:ea typeface="Archivo" pitchFamily="34" charset="-122"/>
                <a:cs typeface="Archivo" pitchFamily="34" charset="-120"/>
              </a:rPr>
              <a:t>Sound goes to headphones; the edge buzz goes to an Arduino and motor.</a:t>
            </a:r>
            <a:endParaRPr lang="en-US" sz="1600" dirty="0"/>
          </a:p>
        </p:txBody>
      </p:sp>
      <p:sp>
        <p:nvSpPr>
          <p:cNvPr id="16" name="Text 13"/>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87C"/>
                </a:solidFill>
                <a:latin typeface="IBM Plex Mono" pitchFamily="49" charset="0"/>
                <a:ea typeface="IBM Plex Mono" pitchFamily="49" charset="-122"/>
                <a:cs typeface="IBM Plex Mono" pitchFamily="49" charset="-120"/>
              </a:rPr>
              <a:t>Open Canvas · DS+X 2026 Art Hack</a:t>
            </a:r>
            <a:endParaRPr lang="en-US" sz="1200" dirty="0"/>
          </a:p>
        </p:txBody>
      </p:sp>
      <p:sp>
        <p:nvSpPr>
          <p:cNvPr id="17" name="Text 14"/>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887C"/>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7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360F"/>
                </a:solidFill>
                <a:latin typeface="IBM Plex Mono" pitchFamily="49" charset="0"/>
                <a:ea typeface="IBM Plex Mono" pitchFamily="49" charset="-122"/>
                <a:cs typeface="IBM Plex Mono" pitchFamily="49" charset="-120"/>
              </a:rPr>
              <a:t>TECH STACK</a:t>
            </a:r>
            <a:endParaRPr lang="en-US" sz="1200" dirty="0"/>
          </a:p>
        </p:txBody>
      </p:sp>
      <p:sp>
        <p:nvSpPr>
          <p:cNvPr id="3" name="Text 1"/>
          <p:cNvSpPr/>
          <p:nvPr>
            <p:ph type="title"/>
          </p:nvPr>
        </p:nvSpPr>
        <p:spPr>
          <a:xfrm>
            <a:off x="812800" y="12255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110"/>
                </a:solidFill>
                <a:latin typeface="Archivo" pitchFamily="34" charset="0"/>
                <a:ea typeface="Archivo" pitchFamily="34" charset="-122"/>
                <a:cs typeface="Archivo" pitchFamily="34" charset="-120"/>
              </a:rPr>
              <a:t>Built from off-the-shelf parts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3100"/>
          <a:ext cx="10553700" cy="2196207"/>
        </p:xfrm>
        <a:graphic>
          <a:graphicData uri="http://schemas.openxmlformats.org/drawingml/2006/table">
            <a:tbl>
              <a:tblPr/>
              <a:tblGrid>
                <a:gridCol w="2321814"/>
                <a:gridCol w="8231886"/>
              </a:tblGrid>
              <a:tr h="439241">
                <a:tc>
                  <a:txBody>
                    <a:bodyPr/>
                    <a:lstStyle/>
                    <a:p>
                      <a:pPr indent="0" marL="0">
                        <a:lnSpc>
                          <a:spcPts val="2240"/>
                        </a:lnSpc>
                        <a:buNone/>
                      </a:pPr>
                      <a:r>
                        <a:rPr lang="en-US" sz="1600" dirty="0">
                          <a:solidFill>
                            <a:srgbClr val="B8360F"/>
                          </a:solidFill>
                          <a:latin typeface="Archivo" pitchFamily="34" charset="0"/>
                          <a:ea typeface="Archivo" pitchFamily="34" charset="-122"/>
                          <a:cs typeface="Archivo" pitchFamily="34" charset="-120"/>
                        </a:rPr>
                        <a:t>Vision</a:t>
                      </a:r>
                      <a:endParaRPr lang="en-US" sz="1600" dirty="0">
                        <a:latin typeface="Archivo" charset="0"/>
                        <a:ea typeface="Archivo" charset="0"/>
                        <a:cs typeface="Archivo" charset="0"/>
                      </a:endParaRPr>
                    </a:p>
                  </a:txBody>
                  <a:tcPr marL="71120" marR="71120" marT="71120" marB="71120" anchor="t">
                    <a:lnL w="12700" cap="flat" cmpd="sng" algn="ctr">
                      <a:solidFill>
                        <a:srgbClr val="BEB9AD"/>
                      </a:solidFill>
                      <a:prstDash val="solid"/>
                      <a:round/>
                      <a:headEnd type="none" w="med" len="med"/>
                      <a:tailEnd type="none" w="med" len="med"/>
                    </a:lnL>
                    <a:lnR w="12700" cap="flat" cmpd="sng" algn="ctr">
                      <a:solidFill>
                        <a:srgbClr val="BEB9AD"/>
                      </a:solidFill>
                      <a:prstDash val="solid"/>
                      <a:round/>
                      <a:headEnd type="none" w="med" len="med"/>
                      <a:tailEnd type="none" w="med" len="med"/>
                    </a:lnR>
                    <a:lnT w="12700" cap="flat" cmpd="sng" algn="ctr">
                      <a:solidFill>
                        <a:srgbClr val="BEB9AD"/>
                      </a:solidFill>
                      <a:prstDash val="solid"/>
                      <a:round/>
                      <a:headEnd type="none" w="med" len="med"/>
                      <a:tailEnd type="none" w="med" len="med"/>
                    </a:lnT>
                    <a:lnB w="12700" cap="flat" cmpd="sng" algn="ctr">
                      <a:solidFill>
                        <a:srgbClr val="BEB9AD"/>
                      </a:solidFill>
                      <a:prstDash val="solid"/>
                      <a:round/>
                      <a:headEnd type="none" w="med" len="med"/>
                      <a:tailEnd type="none" w="med" len="med"/>
                    </a:lnB>
                  </a:tcPr>
                </a:tc>
                <a:tc>
                  <a:txBody>
                    <a:bodyPr/>
                    <a:lstStyle/>
                    <a:p>
                      <a:pPr indent="0" marL="0">
                        <a:lnSpc>
                          <a:spcPts val="2240"/>
                        </a:lnSpc>
                        <a:buNone/>
                      </a:pPr>
                      <a:r>
                        <a:rPr lang="en-US" sz="1600" dirty="0">
                          <a:solidFill>
                            <a:srgbClr val="3A3631"/>
                          </a:solidFill>
                          <a:latin typeface="Archivo" pitchFamily="34" charset="0"/>
                          <a:ea typeface="Archivo" pitchFamily="34" charset="-122"/>
                          <a:cs typeface="Archivo" pitchFamily="34" charset="-120"/>
                        </a:rPr>
                        <a:t>OpenCV 5 ArUco markers + homography · MediaPipe hand model</a:t>
                      </a:r>
                      <a:endParaRPr lang="en-US" sz="1600" dirty="0">
                        <a:latin typeface="Archivo" charset="0"/>
                        <a:ea typeface="Archivo" charset="0"/>
                        <a:cs typeface="Archivo" charset="0"/>
                      </a:endParaRPr>
                    </a:p>
                  </a:txBody>
                  <a:tcPr marL="71120" marR="71120" marT="71120" marB="71120" anchor="t">
                    <a:lnL w="12700" cap="flat" cmpd="sng" algn="ctr">
                      <a:solidFill>
                        <a:srgbClr val="BEB9AD"/>
                      </a:solidFill>
                      <a:prstDash val="solid"/>
                      <a:round/>
                      <a:headEnd type="none" w="med" len="med"/>
                      <a:tailEnd type="none" w="med" len="med"/>
                    </a:lnL>
                    <a:lnR w="12700" cap="flat" cmpd="sng" algn="ctr">
                      <a:solidFill>
                        <a:srgbClr val="BEB9AD"/>
                      </a:solidFill>
                      <a:prstDash val="solid"/>
                      <a:round/>
                      <a:headEnd type="none" w="med" len="med"/>
                      <a:tailEnd type="none" w="med" len="med"/>
                    </a:lnR>
                    <a:lnT w="12700" cap="flat" cmpd="sng" algn="ctr">
                      <a:solidFill>
                        <a:srgbClr val="BEB9AD"/>
                      </a:solidFill>
                      <a:prstDash val="solid"/>
                      <a:round/>
                      <a:headEnd type="none" w="med" len="med"/>
                      <a:tailEnd type="none" w="med" len="med"/>
                    </a:lnT>
                    <a:lnB w="12700" cap="flat" cmpd="sng" algn="ctr">
                      <a:solidFill>
                        <a:srgbClr val="BEB9AD"/>
                      </a:solidFill>
                      <a:prstDash val="solid"/>
                      <a:round/>
                      <a:headEnd type="none" w="med" len="med"/>
                      <a:tailEnd type="none" w="med" len="med"/>
                    </a:lnB>
                  </a:tcPr>
                </a:tc>
              </a:tr>
              <a:tr h="439241">
                <a:tc>
                  <a:txBody>
                    <a:bodyPr/>
                    <a:lstStyle/>
                    <a:p>
                      <a:pPr indent="0" marL="0">
                        <a:lnSpc>
                          <a:spcPts val="2240"/>
                        </a:lnSpc>
                        <a:buNone/>
                      </a:pPr>
                      <a:r>
                        <a:rPr lang="en-US" sz="1600" dirty="0">
                          <a:solidFill>
                            <a:srgbClr val="3A3631"/>
                          </a:solidFill>
                          <a:latin typeface="Archivo" pitchFamily="34" charset="0"/>
                          <a:ea typeface="Archivo" pitchFamily="34" charset="-122"/>
                          <a:cs typeface="Archivo" pitchFamily="34" charset="-120"/>
                        </a:rPr>
                        <a:t>Audio</a:t>
                      </a:r>
                      <a:endParaRPr lang="en-US" sz="1600" dirty="0">
                        <a:latin typeface="Archivo" charset="0"/>
                        <a:ea typeface="Archivo" charset="0"/>
                        <a:cs typeface="Archivo" charset="0"/>
                      </a:endParaRPr>
                    </a:p>
                  </a:txBody>
                  <a:tcPr marL="71120" marR="71120" marT="71120" marB="71120" anchor="t">
                    <a:lnL w="12700" cap="flat" cmpd="sng" algn="ctr">
                      <a:solidFill>
                        <a:srgbClr val="BEB9AD"/>
                      </a:solidFill>
                      <a:prstDash val="solid"/>
                      <a:round/>
                      <a:headEnd type="none" w="med" len="med"/>
                      <a:tailEnd type="none" w="med" len="med"/>
                    </a:lnL>
                    <a:lnR w="12700" cap="flat" cmpd="sng" algn="ctr">
                      <a:solidFill>
                        <a:srgbClr val="BEB9AD"/>
                      </a:solidFill>
                      <a:prstDash val="solid"/>
                      <a:round/>
                      <a:headEnd type="none" w="med" len="med"/>
                      <a:tailEnd type="none" w="med" len="med"/>
                    </a:lnR>
                    <a:lnT w="12700" cap="flat" cmpd="sng" algn="ctr">
                      <a:solidFill>
                        <a:srgbClr val="BEB9AD"/>
                      </a:solidFill>
                      <a:prstDash val="solid"/>
                      <a:round/>
                      <a:headEnd type="none" w="med" len="med"/>
                      <a:tailEnd type="none" w="med" len="med"/>
                    </a:lnT>
                    <a:lnB w="12700" cap="flat" cmpd="sng" algn="ctr">
                      <a:solidFill>
                        <a:srgbClr val="BEB9AD"/>
                      </a:solidFill>
                      <a:prstDash val="solid"/>
                      <a:round/>
                      <a:headEnd type="none" w="med" len="med"/>
                      <a:tailEnd type="none" w="med" len="med"/>
                    </a:lnB>
                  </a:tcPr>
                </a:tc>
                <a:tc>
                  <a:txBody>
                    <a:bodyPr/>
                    <a:lstStyle/>
                    <a:p>
                      <a:pPr indent="0" marL="0">
                        <a:lnSpc>
                          <a:spcPts val="2240"/>
                        </a:lnSpc>
                        <a:buNone/>
                      </a:pPr>
                      <a:r>
                        <a:rPr lang="en-US" sz="1600" dirty="0">
                          <a:solidFill>
                            <a:srgbClr val="3A3631"/>
                          </a:solidFill>
                          <a:latin typeface="Archivo" pitchFamily="34" charset="0"/>
                          <a:ea typeface="Archivo" pitchFamily="34" charset="-122"/>
                          <a:cs typeface="Archivo" pitchFamily="34" charset="-120"/>
                        </a:rPr>
                        <a:t>numpy mixer · sounddevice · ElevenLabs voices and effects</a:t>
                      </a:r>
                      <a:endParaRPr lang="en-US" sz="1600" dirty="0">
                        <a:latin typeface="Archivo" charset="0"/>
                        <a:ea typeface="Archivo" charset="0"/>
                        <a:cs typeface="Archivo" charset="0"/>
                      </a:endParaRPr>
                    </a:p>
                  </a:txBody>
                  <a:tcPr marL="71120" marR="71120" marT="71120" marB="71120" anchor="t">
                    <a:lnL w="12700" cap="flat" cmpd="sng" algn="ctr">
                      <a:solidFill>
                        <a:srgbClr val="BEB9AD"/>
                      </a:solidFill>
                      <a:prstDash val="solid"/>
                      <a:round/>
                      <a:headEnd type="none" w="med" len="med"/>
                      <a:tailEnd type="none" w="med" len="med"/>
                    </a:lnL>
                    <a:lnR w="12700" cap="flat" cmpd="sng" algn="ctr">
                      <a:solidFill>
                        <a:srgbClr val="BEB9AD"/>
                      </a:solidFill>
                      <a:prstDash val="solid"/>
                      <a:round/>
                      <a:headEnd type="none" w="med" len="med"/>
                      <a:tailEnd type="none" w="med" len="med"/>
                    </a:lnR>
                    <a:lnT w="12700" cap="flat" cmpd="sng" algn="ctr">
                      <a:solidFill>
                        <a:srgbClr val="BEB9AD"/>
                      </a:solidFill>
                      <a:prstDash val="solid"/>
                      <a:round/>
                      <a:headEnd type="none" w="med" len="med"/>
                      <a:tailEnd type="none" w="med" len="med"/>
                    </a:lnT>
                    <a:lnB w="12700" cap="flat" cmpd="sng" algn="ctr">
                      <a:solidFill>
                        <a:srgbClr val="BEB9AD"/>
                      </a:solidFill>
                      <a:prstDash val="solid"/>
                      <a:round/>
                      <a:headEnd type="none" w="med" len="med"/>
                      <a:tailEnd type="none" w="med" len="med"/>
                    </a:lnB>
                  </a:tcPr>
                </a:tc>
              </a:tr>
              <a:tr h="439241">
                <a:tc>
                  <a:txBody>
                    <a:bodyPr/>
                    <a:lstStyle/>
                    <a:p>
                      <a:pPr indent="0" marL="0">
                        <a:lnSpc>
                          <a:spcPts val="2240"/>
                        </a:lnSpc>
                        <a:buNone/>
                      </a:pPr>
                      <a:r>
                        <a:rPr lang="en-US" sz="1600" dirty="0">
                          <a:solidFill>
                            <a:srgbClr val="3A3631"/>
                          </a:solidFill>
                          <a:latin typeface="Archivo" pitchFamily="34" charset="0"/>
                          <a:ea typeface="Archivo" pitchFamily="34" charset="-122"/>
                          <a:cs typeface="Archivo" pitchFamily="34" charset="-120"/>
                        </a:rPr>
                        <a:t>Hardware</a:t>
                      </a:r>
                      <a:endParaRPr lang="en-US" sz="1600" dirty="0">
                        <a:latin typeface="Archivo" charset="0"/>
                        <a:ea typeface="Archivo" charset="0"/>
                        <a:cs typeface="Archivo" charset="0"/>
                      </a:endParaRPr>
                    </a:p>
                  </a:txBody>
                  <a:tcPr marL="71120" marR="71120" marT="71120" marB="71120" anchor="t">
                    <a:lnL w="12700" cap="flat" cmpd="sng" algn="ctr">
                      <a:solidFill>
                        <a:srgbClr val="BEB9AD"/>
                      </a:solidFill>
                      <a:prstDash val="solid"/>
                      <a:round/>
                      <a:headEnd type="none" w="med" len="med"/>
                      <a:tailEnd type="none" w="med" len="med"/>
                    </a:lnL>
                    <a:lnR w="12700" cap="flat" cmpd="sng" algn="ctr">
                      <a:solidFill>
                        <a:srgbClr val="BEB9AD"/>
                      </a:solidFill>
                      <a:prstDash val="solid"/>
                      <a:round/>
                      <a:headEnd type="none" w="med" len="med"/>
                      <a:tailEnd type="none" w="med" len="med"/>
                    </a:lnR>
                    <a:lnT w="12700" cap="flat" cmpd="sng" algn="ctr">
                      <a:solidFill>
                        <a:srgbClr val="BEB9AD"/>
                      </a:solidFill>
                      <a:prstDash val="solid"/>
                      <a:round/>
                      <a:headEnd type="none" w="med" len="med"/>
                      <a:tailEnd type="none" w="med" len="med"/>
                    </a:lnT>
                    <a:lnB w="12700" cap="flat" cmpd="sng" algn="ctr">
                      <a:solidFill>
                        <a:srgbClr val="BEB9AD"/>
                      </a:solidFill>
                      <a:prstDash val="solid"/>
                      <a:round/>
                      <a:headEnd type="none" w="med" len="med"/>
                      <a:tailEnd type="none" w="med" len="med"/>
                    </a:lnB>
                  </a:tcPr>
                </a:tc>
                <a:tc>
                  <a:txBody>
                    <a:bodyPr/>
                    <a:lstStyle/>
                    <a:p>
                      <a:pPr indent="0" marL="0">
                        <a:lnSpc>
                          <a:spcPts val="2240"/>
                        </a:lnSpc>
                        <a:buNone/>
                      </a:pPr>
                      <a:r>
                        <a:rPr lang="en-US" sz="1600" dirty="0">
                          <a:solidFill>
                            <a:srgbClr val="3A3631"/>
                          </a:solidFill>
                          <a:latin typeface="Archivo" pitchFamily="34" charset="0"/>
                          <a:ea typeface="Archivo" pitchFamily="34" charset="-122"/>
                          <a:cs typeface="Archivo" pitchFamily="34" charset="-120"/>
                        </a:rPr>
                        <a:t>Acer webcam · Arduino Uno · transistor driver · coin motor</a:t>
                      </a:r>
                      <a:endParaRPr lang="en-US" sz="1600" dirty="0">
                        <a:latin typeface="Archivo" charset="0"/>
                        <a:ea typeface="Archivo" charset="0"/>
                        <a:cs typeface="Archivo" charset="0"/>
                      </a:endParaRPr>
                    </a:p>
                  </a:txBody>
                  <a:tcPr marL="71120" marR="71120" marT="71120" marB="71120" anchor="t">
                    <a:lnL w="12700" cap="flat" cmpd="sng" algn="ctr">
                      <a:solidFill>
                        <a:srgbClr val="BEB9AD"/>
                      </a:solidFill>
                      <a:prstDash val="solid"/>
                      <a:round/>
                      <a:headEnd type="none" w="med" len="med"/>
                      <a:tailEnd type="none" w="med" len="med"/>
                    </a:lnL>
                    <a:lnR w="12700" cap="flat" cmpd="sng" algn="ctr">
                      <a:solidFill>
                        <a:srgbClr val="BEB9AD"/>
                      </a:solidFill>
                      <a:prstDash val="solid"/>
                      <a:round/>
                      <a:headEnd type="none" w="med" len="med"/>
                      <a:tailEnd type="none" w="med" len="med"/>
                    </a:lnR>
                    <a:lnT w="12700" cap="flat" cmpd="sng" algn="ctr">
                      <a:solidFill>
                        <a:srgbClr val="BEB9AD"/>
                      </a:solidFill>
                      <a:prstDash val="solid"/>
                      <a:round/>
                      <a:headEnd type="none" w="med" len="med"/>
                      <a:tailEnd type="none" w="med" len="med"/>
                    </a:lnT>
                    <a:lnB w="12700" cap="flat" cmpd="sng" algn="ctr">
                      <a:solidFill>
                        <a:srgbClr val="BEB9AD"/>
                      </a:solidFill>
                      <a:prstDash val="solid"/>
                      <a:round/>
                      <a:headEnd type="none" w="med" len="med"/>
                      <a:tailEnd type="none" w="med" len="med"/>
                    </a:lnB>
                  </a:tcPr>
                </a:tc>
              </a:tr>
              <a:tr h="439241">
                <a:tc>
                  <a:txBody>
                    <a:bodyPr/>
                    <a:lstStyle/>
                    <a:p>
                      <a:pPr indent="0" marL="0">
                        <a:lnSpc>
                          <a:spcPts val="2240"/>
                        </a:lnSpc>
                        <a:buNone/>
                      </a:pPr>
                      <a:r>
                        <a:rPr lang="en-US" sz="1600" dirty="0">
                          <a:solidFill>
                            <a:srgbClr val="3A3631"/>
                          </a:solidFill>
                          <a:latin typeface="Archivo" pitchFamily="34" charset="0"/>
                          <a:ea typeface="Archivo" pitchFamily="34" charset="-122"/>
                          <a:cs typeface="Archivo" pitchFamily="34" charset="-120"/>
                        </a:rPr>
                        <a:t>Launch</a:t>
                      </a:r>
                      <a:endParaRPr lang="en-US" sz="1600" dirty="0">
                        <a:latin typeface="Archivo" charset="0"/>
                        <a:ea typeface="Archivo" charset="0"/>
                        <a:cs typeface="Archivo" charset="0"/>
                      </a:endParaRPr>
                    </a:p>
                  </a:txBody>
                  <a:tcPr marL="71120" marR="71120" marT="71120" marB="71120" anchor="t">
                    <a:lnL w="12700" cap="flat" cmpd="sng" algn="ctr">
                      <a:solidFill>
                        <a:srgbClr val="BEB9AD"/>
                      </a:solidFill>
                      <a:prstDash val="solid"/>
                      <a:round/>
                      <a:headEnd type="none" w="med" len="med"/>
                      <a:tailEnd type="none" w="med" len="med"/>
                    </a:lnL>
                    <a:lnR w="12700" cap="flat" cmpd="sng" algn="ctr">
                      <a:solidFill>
                        <a:srgbClr val="BEB9AD"/>
                      </a:solidFill>
                      <a:prstDash val="solid"/>
                      <a:round/>
                      <a:headEnd type="none" w="med" len="med"/>
                      <a:tailEnd type="none" w="med" len="med"/>
                    </a:lnR>
                    <a:lnT w="12700" cap="flat" cmpd="sng" algn="ctr">
                      <a:solidFill>
                        <a:srgbClr val="BEB9AD"/>
                      </a:solidFill>
                      <a:prstDash val="solid"/>
                      <a:round/>
                      <a:headEnd type="none" w="med" len="med"/>
                      <a:tailEnd type="none" w="med" len="med"/>
                    </a:lnT>
                    <a:lnB w="12700" cap="flat" cmpd="sng" algn="ctr">
                      <a:solidFill>
                        <a:srgbClr val="BEB9AD"/>
                      </a:solidFill>
                      <a:prstDash val="solid"/>
                      <a:round/>
                      <a:headEnd type="none" w="med" len="med"/>
                      <a:tailEnd type="none" w="med" len="med"/>
                    </a:lnB>
                  </a:tcPr>
                </a:tc>
                <a:tc>
                  <a:txBody>
                    <a:bodyPr/>
                    <a:lstStyle/>
                    <a:p>
                      <a:pPr indent="0" marL="0">
                        <a:lnSpc>
                          <a:spcPts val="2240"/>
                        </a:lnSpc>
                        <a:buNone/>
                      </a:pPr>
                      <a:r>
                        <a:rPr lang="en-US" sz="1600" dirty="0">
                          <a:solidFill>
                            <a:srgbClr val="3A3631"/>
                          </a:solidFill>
                          <a:latin typeface="Archivo" pitchFamily="34" charset="0"/>
                          <a:ea typeface="Archivo" pitchFamily="34" charset="-122"/>
                          <a:cs typeface="Archivo" pitchFamily="34" charset="-120"/>
                        </a:rPr>
                        <a:t>Mac app + “Start Open Canvas” Siri Shortcut, no typing</a:t>
                      </a:r>
                      <a:endParaRPr lang="en-US" sz="1600" dirty="0">
                        <a:latin typeface="Archivo" charset="0"/>
                        <a:ea typeface="Archivo" charset="0"/>
                        <a:cs typeface="Archivo" charset="0"/>
                      </a:endParaRPr>
                    </a:p>
                  </a:txBody>
                  <a:tcPr marL="71120" marR="71120" marT="71120" marB="71120" anchor="t">
                    <a:lnL w="12700" cap="flat" cmpd="sng" algn="ctr">
                      <a:solidFill>
                        <a:srgbClr val="BEB9AD"/>
                      </a:solidFill>
                      <a:prstDash val="solid"/>
                      <a:round/>
                      <a:headEnd type="none" w="med" len="med"/>
                      <a:tailEnd type="none" w="med" len="med"/>
                    </a:lnL>
                    <a:lnR w="12700" cap="flat" cmpd="sng" algn="ctr">
                      <a:solidFill>
                        <a:srgbClr val="BEB9AD"/>
                      </a:solidFill>
                      <a:prstDash val="solid"/>
                      <a:round/>
                      <a:headEnd type="none" w="med" len="med"/>
                      <a:tailEnd type="none" w="med" len="med"/>
                    </a:lnR>
                    <a:lnT w="12700" cap="flat" cmpd="sng" algn="ctr">
                      <a:solidFill>
                        <a:srgbClr val="BEB9AD"/>
                      </a:solidFill>
                      <a:prstDash val="solid"/>
                      <a:round/>
                      <a:headEnd type="none" w="med" len="med"/>
                      <a:tailEnd type="none" w="med" len="med"/>
                    </a:lnT>
                    <a:lnB w="12700" cap="flat" cmpd="sng" algn="ctr">
                      <a:solidFill>
                        <a:srgbClr val="BEB9AD"/>
                      </a:solidFill>
                      <a:prstDash val="solid"/>
                      <a:round/>
                      <a:headEnd type="none" w="med" len="med"/>
                      <a:tailEnd type="none" w="med" len="med"/>
                    </a:lnB>
                  </a:tcPr>
                </a:tc>
              </a:tr>
              <a:tr h="439241">
                <a:tc>
                  <a:txBody>
                    <a:bodyPr/>
                    <a:lstStyle/>
                    <a:p>
                      <a:pPr indent="0" marL="0">
                        <a:lnSpc>
                          <a:spcPts val="2240"/>
                        </a:lnSpc>
                        <a:buNone/>
                      </a:pPr>
                      <a:r>
                        <a:rPr lang="en-US" sz="1600" dirty="0">
                          <a:solidFill>
                            <a:srgbClr val="3A3631"/>
                          </a:solidFill>
                          <a:latin typeface="Archivo" pitchFamily="34" charset="0"/>
                          <a:ea typeface="Archivo" pitchFamily="34" charset="-122"/>
                          <a:cs typeface="Archivo" pitchFamily="34" charset="-120"/>
                        </a:rPr>
                        <a:t>Languages</a:t>
                      </a:r>
                      <a:endParaRPr lang="en-US" sz="1600" dirty="0">
                        <a:latin typeface="Archivo" charset="0"/>
                        <a:ea typeface="Archivo" charset="0"/>
                        <a:cs typeface="Archivo" charset="0"/>
                      </a:endParaRPr>
                    </a:p>
                  </a:txBody>
                  <a:tcPr marL="71120" marR="71120" marT="71120" marB="71120" anchor="t">
                    <a:lnL w="12700" cap="flat" cmpd="sng" algn="ctr">
                      <a:solidFill>
                        <a:srgbClr val="BEB9AD"/>
                      </a:solidFill>
                      <a:prstDash val="solid"/>
                      <a:round/>
                      <a:headEnd type="none" w="med" len="med"/>
                      <a:tailEnd type="none" w="med" len="med"/>
                    </a:lnL>
                    <a:lnR w="12700" cap="flat" cmpd="sng" algn="ctr">
                      <a:solidFill>
                        <a:srgbClr val="BEB9AD"/>
                      </a:solidFill>
                      <a:prstDash val="solid"/>
                      <a:round/>
                      <a:headEnd type="none" w="med" len="med"/>
                      <a:tailEnd type="none" w="med" len="med"/>
                    </a:lnR>
                    <a:lnT w="12700" cap="flat" cmpd="sng" algn="ctr">
                      <a:solidFill>
                        <a:srgbClr val="BEB9AD"/>
                      </a:solidFill>
                      <a:prstDash val="solid"/>
                      <a:round/>
                      <a:headEnd type="none" w="med" len="med"/>
                      <a:tailEnd type="none" w="med" len="med"/>
                    </a:lnT>
                    <a:lnB w="12700" cap="flat" cmpd="sng" algn="ctr">
                      <a:solidFill>
                        <a:srgbClr val="BEB9AD"/>
                      </a:solidFill>
                      <a:prstDash val="solid"/>
                      <a:round/>
                      <a:headEnd type="none" w="med" len="med"/>
                      <a:tailEnd type="none" w="med" len="med"/>
                    </a:lnB>
                  </a:tcPr>
                </a:tc>
                <a:tc>
                  <a:txBody>
                    <a:bodyPr/>
                    <a:lstStyle/>
                    <a:p>
                      <a:pPr indent="0" marL="0">
                        <a:lnSpc>
                          <a:spcPts val="2240"/>
                        </a:lnSpc>
                        <a:buNone/>
                      </a:pPr>
                      <a:r>
                        <a:rPr lang="en-US" sz="1600" dirty="0">
                          <a:solidFill>
                            <a:srgbClr val="3A3631"/>
                          </a:solidFill>
                          <a:latin typeface="Archivo" pitchFamily="34" charset="0"/>
                          <a:ea typeface="Archivo" pitchFamily="34" charset="-122"/>
                          <a:cs typeface="Archivo" pitchFamily="34" charset="-120"/>
                        </a:rPr>
                        <a:t>Python 3.11 with pinned packages · Arduino C++</a:t>
                      </a:r>
                      <a:endParaRPr lang="en-US" sz="1600" dirty="0">
                        <a:latin typeface="Archivo" charset="0"/>
                        <a:ea typeface="Archivo" charset="0"/>
                        <a:cs typeface="Archivo" charset="0"/>
                      </a:endParaRPr>
                    </a:p>
                  </a:txBody>
                  <a:tcPr marL="71120" marR="71120" marT="71120" marB="71120" anchor="t">
                    <a:lnL w="12700" cap="flat" cmpd="sng" algn="ctr">
                      <a:solidFill>
                        <a:srgbClr val="BEB9AD"/>
                      </a:solidFill>
                      <a:prstDash val="solid"/>
                      <a:round/>
                      <a:headEnd type="none" w="med" len="med"/>
                      <a:tailEnd type="none" w="med" len="med"/>
                    </a:lnL>
                    <a:lnR w="12700" cap="flat" cmpd="sng" algn="ctr">
                      <a:solidFill>
                        <a:srgbClr val="BEB9AD"/>
                      </a:solidFill>
                      <a:prstDash val="solid"/>
                      <a:round/>
                      <a:headEnd type="none" w="med" len="med"/>
                      <a:tailEnd type="none" w="med" len="med"/>
                    </a:lnR>
                    <a:lnT w="12700" cap="flat" cmpd="sng" algn="ctr">
                      <a:solidFill>
                        <a:srgbClr val="BEB9AD"/>
                      </a:solidFill>
                      <a:prstDash val="solid"/>
                      <a:round/>
                      <a:headEnd type="none" w="med" len="med"/>
                      <a:tailEnd type="none" w="med" len="med"/>
                    </a:lnT>
                    <a:lnB w="12700" cap="flat" cmpd="sng" algn="ctr">
                      <a:solidFill>
                        <a:srgbClr val="BEB9AD"/>
                      </a:solidFill>
                      <a:prstDash val="solid"/>
                      <a:round/>
                      <a:headEnd type="none" w="med" len="med"/>
                      <a:tailEnd type="none" w="med" len="med"/>
                    </a:lnB>
                  </a:tcPr>
                </a:tc>
              </a:tr>
            </a:tbl>
          </a:graphicData>
        </a:graphic>
      </p:graphicFrame>
      <p:sp>
        <p:nvSpPr>
          <p:cNvPr id="5" name="Shape 2"/>
          <p:cNvSpPr/>
          <p:nvPr/>
        </p:nvSpPr>
        <p:spPr>
          <a:xfrm>
            <a:off x="812800" y="4342507"/>
            <a:ext cx="10566400" cy="1346200"/>
          </a:xfrm>
          <a:prstGeom prst="roundRect">
            <a:avLst>
              <a:gd name="adj" fmla="val 7547"/>
            </a:avLst>
          </a:prstGeom>
          <a:solidFill>
            <a:srgbClr val="121110"/>
          </a:solidFill>
          <a:ln/>
        </p:spPr>
      </p:sp>
      <p:sp>
        <p:nvSpPr>
          <p:cNvPr id="6" name="Shape 3"/>
          <p:cNvSpPr/>
          <p:nvPr/>
        </p:nvSpPr>
        <p:spPr>
          <a:xfrm>
            <a:off x="812800" y="4342507"/>
            <a:ext cx="10566400" cy="1346200"/>
          </a:xfrm>
          <a:custGeom>
            <a:avLst/>
            <a:gdLst/>
            <a:ahLst/>
            <a:cxnLst/>
            <a:rect l="l" t="t" r="r" b="b"/>
            <a:pathLst>
              <a:path w="10566400" h="1346200">
                <a:moveTo>
                  <a:pt x="101600" y="1346200"/>
                </a:moveTo>
                <a:lnTo>
                  <a:pt x="101600" y="1346200"/>
                </a:lnTo>
                <a:arcTo hR="101600" wR="101600" stAng="5400000" swAng="5400000"/>
                <a:lnTo>
                  <a:pt x="0" y="101600"/>
                </a:lnTo>
                <a:arcTo hR="101600" wR="101600" stAng="10800000" swAng="5400000"/>
                <a:lnTo>
                  <a:pt x="101600" y="0"/>
                </a:lnTo>
                <a:arcTo hR="101600" wR="25400" stAng="16200000" swAng="-5400000"/>
                <a:lnTo>
                  <a:pt x="76200" y="1244600"/>
                </a:lnTo>
                <a:arcTo hR="101600" wR="25400" stAng="10800000" swAng="-5400000"/>
                <a:close/>
              </a:path>
            </a:pathLst>
          </a:custGeom>
          <a:solidFill>
            <a:srgbClr val="FF4B1F"/>
          </a:solidFill>
          <a:ln/>
        </p:spPr>
      </p:sp>
      <p:sp>
        <p:nvSpPr>
          <p:cNvPr id="7" name="Text 4"/>
          <p:cNvSpPr/>
          <p:nvPr/>
        </p:nvSpPr>
        <p:spPr>
          <a:xfrm>
            <a:off x="1143000" y="4545707"/>
            <a:ext cx="10281666" cy="35560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EE7D8"/>
                </a:solidFill>
                <a:latin typeface="Archivo" pitchFamily="34" charset="0"/>
                <a:ea typeface="Archivo" pitchFamily="34" charset="-122"/>
                <a:cs typeface="Archivo" pitchFamily="34" charset="-120"/>
              </a:rPr>
              <a:t>Kiro: not used</a:t>
            </a:r>
            <a:endParaRPr lang="en-US" sz="2200" dirty="0"/>
          </a:p>
        </p:txBody>
      </p:sp>
      <p:sp>
        <p:nvSpPr>
          <p:cNvPr id="8" name="Text 5"/>
          <p:cNvSpPr/>
          <p:nvPr/>
        </p:nvSpPr>
        <p:spPr>
          <a:xfrm>
            <a:off x="1143000" y="4926707"/>
            <a:ext cx="10281666"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8BA"/>
                </a:solidFill>
                <a:latin typeface="Archivo" pitchFamily="34" charset="0"/>
                <a:ea typeface="Archivo" pitchFamily="34" charset="-122"/>
                <a:cs typeface="Archivo" pitchFamily="34" charset="-120"/>
              </a:rPr>
              <a:t>We built with Claude Code instead, working from a shared spec file (CLAUDE.md) that holds the team’s interface contracts.</a:t>
            </a:r>
            <a:endParaRPr lang="en-US" sz="1600" dirty="0"/>
          </a:p>
        </p:txBody>
      </p:sp>
      <p:sp>
        <p:nvSpPr>
          <p:cNvPr id="9" name="Text 6"/>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55C"/>
                </a:solidFill>
                <a:latin typeface="IBM Plex Mono" pitchFamily="49" charset="0"/>
                <a:ea typeface="IBM Plex Mono" pitchFamily="49" charset="-122"/>
                <a:cs typeface="IBM Plex Mono" pitchFamily="49" charset="-120"/>
              </a:rPr>
              <a:t>Open Canvas · DS+X 2026 Art Hack</a:t>
            </a:r>
            <a:endParaRPr lang="en-US" sz="1200" dirty="0"/>
          </a:p>
        </p:txBody>
      </p:sp>
      <p:sp>
        <p:nvSpPr>
          <p:cNvPr id="10" name="Text 7"/>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55C"/>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7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360F"/>
                </a:solidFill>
                <a:latin typeface="IBM Plex Mono" pitchFamily="49" charset="0"/>
                <a:ea typeface="IBM Plex Mono" pitchFamily="49" charset="-122"/>
                <a:cs typeface="IBM Plex Mono" pitchFamily="49" charset="-120"/>
              </a:rPr>
              <a:t>DATA</a:t>
            </a:r>
            <a:endParaRPr lang="en-US" sz="1200" dirty="0"/>
          </a:p>
        </p:txBody>
      </p:sp>
      <p:sp>
        <p:nvSpPr>
          <p:cNvPr id="3" name="Text 1"/>
          <p:cNvSpPr/>
          <p:nvPr>
            <p:ph type="title"/>
          </p:nvPr>
        </p:nvSpPr>
        <p:spPr>
          <a:xfrm>
            <a:off x="812800" y="12255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110"/>
                </a:solidFill>
                <a:latin typeface="Archivo" pitchFamily="34" charset="0"/>
                <a:ea typeface="Archivo" pitchFamily="34" charset="-122"/>
                <a:cs typeface="Archivo" pitchFamily="34" charset="-120"/>
              </a:rPr>
              <a:t>Our data and where it came from</a:t>
            </a:r>
            <a:endParaRPr lang="en-US" sz="3600" dirty="0"/>
          </a:p>
        </p:txBody>
      </p:sp>
      <p:sp>
        <p:nvSpPr>
          <p:cNvPr id="4" name="Shape 2"/>
          <p:cNvSpPr/>
          <p:nvPr/>
        </p:nvSpPr>
        <p:spPr>
          <a:xfrm>
            <a:off x="812800" y="1930400"/>
            <a:ext cx="5207000" cy="1371600"/>
          </a:xfrm>
          <a:prstGeom prst="roundRect">
            <a:avLst>
              <a:gd name="adj" fmla="val 7407"/>
            </a:avLst>
          </a:prstGeom>
          <a:solidFill>
            <a:srgbClr val="F7F2E8"/>
          </a:solidFill>
          <a:ln/>
        </p:spPr>
      </p:sp>
      <p:sp>
        <p:nvSpPr>
          <p:cNvPr id="5" name="Text 3"/>
          <p:cNvSpPr/>
          <p:nvPr/>
        </p:nvSpPr>
        <p:spPr>
          <a:xfrm>
            <a:off x="1016000" y="2133600"/>
            <a:ext cx="4944618" cy="35560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1110"/>
                </a:solidFill>
                <a:latin typeface="Archivo" pitchFamily="34" charset="0"/>
                <a:ea typeface="Archivo" pitchFamily="34" charset="-122"/>
                <a:cs typeface="Archivo" pitchFamily="34" charset="-120"/>
              </a:rPr>
              <a:t>Four paintings</a:t>
            </a:r>
            <a:endParaRPr lang="en-US" sz="2200" dirty="0"/>
          </a:p>
        </p:txBody>
      </p:sp>
      <p:sp>
        <p:nvSpPr>
          <p:cNvPr id="6" name="Text 4"/>
          <p:cNvSpPr/>
          <p:nvPr/>
        </p:nvSpPr>
        <p:spPr>
          <a:xfrm>
            <a:off x="1016000" y="2540000"/>
            <a:ext cx="4944618"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631"/>
                </a:solidFill>
                <a:latin typeface="Archivo" pitchFamily="34" charset="0"/>
                <a:ea typeface="Archivo" pitchFamily="34" charset="-122"/>
                <a:cs typeface="Archivo" pitchFamily="34" charset="-120"/>
              </a:rPr>
              <a:t>Hokusai, Van Gogh, Mondrian (public domain, Wikimedia Commons) + our own.</a:t>
            </a:r>
            <a:endParaRPr lang="en-US" sz="1600" dirty="0"/>
          </a:p>
        </p:txBody>
      </p:sp>
      <p:sp>
        <p:nvSpPr>
          <p:cNvPr id="7" name="Shape 5"/>
          <p:cNvSpPr/>
          <p:nvPr/>
        </p:nvSpPr>
        <p:spPr>
          <a:xfrm>
            <a:off x="6172200" y="1930400"/>
            <a:ext cx="5207000" cy="1371600"/>
          </a:xfrm>
          <a:prstGeom prst="roundRect">
            <a:avLst>
              <a:gd name="adj" fmla="val 7407"/>
            </a:avLst>
          </a:prstGeom>
          <a:solidFill>
            <a:srgbClr val="F7F2E8"/>
          </a:solidFill>
          <a:ln/>
        </p:spPr>
      </p:sp>
      <p:sp>
        <p:nvSpPr>
          <p:cNvPr id="8" name="Text 6"/>
          <p:cNvSpPr/>
          <p:nvPr/>
        </p:nvSpPr>
        <p:spPr>
          <a:xfrm>
            <a:off x="6375400" y="2133600"/>
            <a:ext cx="4944618" cy="35560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1110"/>
                </a:solidFill>
                <a:latin typeface="Archivo" pitchFamily="34" charset="0"/>
                <a:ea typeface="Archivo" pitchFamily="34" charset="-122"/>
                <a:cs typeface="Archivo" pitchFamily="34" charset="-120"/>
              </a:rPr>
              <a:t>Region maps we drew</a:t>
            </a:r>
            <a:endParaRPr lang="en-US" sz="2200" dirty="0"/>
          </a:p>
        </p:txBody>
      </p:sp>
      <p:sp>
        <p:nvSpPr>
          <p:cNvPr id="9" name="Text 7"/>
          <p:cNvSpPr/>
          <p:nvPr/>
        </p:nvSpPr>
        <p:spPr>
          <a:xfrm>
            <a:off x="6375400" y="2540000"/>
            <a:ext cx="4944618"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631"/>
                </a:solidFill>
                <a:latin typeface="Archivo" pitchFamily="34" charset="0"/>
                <a:ea typeface="Archivo" pitchFamily="34" charset="-122"/>
                <a:cs typeface="Archivo" pitchFamily="34" charset="-120"/>
              </a:rPr>
              <a:t>Hand-traced into 6–8 regions each, with a written description and sound.</a:t>
            </a:r>
            <a:endParaRPr lang="en-US" sz="1600" dirty="0"/>
          </a:p>
        </p:txBody>
      </p:sp>
      <p:sp>
        <p:nvSpPr>
          <p:cNvPr id="10" name="Shape 8"/>
          <p:cNvSpPr/>
          <p:nvPr/>
        </p:nvSpPr>
        <p:spPr>
          <a:xfrm>
            <a:off x="812800" y="3454400"/>
            <a:ext cx="5207000" cy="1371600"/>
          </a:xfrm>
          <a:prstGeom prst="roundRect">
            <a:avLst>
              <a:gd name="adj" fmla="val 7407"/>
            </a:avLst>
          </a:prstGeom>
          <a:solidFill>
            <a:srgbClr val="F7F2E8"/>
          </a:solidFill>
          <a:ln/>
        </p:spPr>
      </p:sp>
      <p:sp>
        <p:nvSpPr>
          <p:cNvPr id="11" name="Text 9"/>
          <p:cNvSpPr/>
          <p:nvPr/>
        </p:nvSpPr>
        <p:spPr>
          <a:xfrm>
            <a:off x="1016000" y="3657600"/>
            <a:ext cx="4944618" cy="35560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1110"/>
                </a:solidFill>
                <a:latin typeface="Archivo" pitchFamily="34" charset="0"/>
                <a:ea typeface="Archivo" pitchFamily="34" charset="-122"/>
                <a:cs typeface="Archivo" pitchFamily="34" charset="-120"/>
              </a:rPr>
              <a:t>Live webcam frames</a:t>
            </a:r>
            <a:endParaRPr lang="en-US" sz="2200" dirty="0"/>
          </a:p>
        </p:txBody>
      </p:sp>
      <p:sp>
        <p:nvSpPr>
          <p:cNvPr id="12" name="Text 10"/>
          <p:cNvSpPr/>
          <p:nvPr/>
        </p:nvSpPr>
        <p:spPr>
          <a:xfrm>
            <a:off x="1016000" y="4064000"/>
            <a:ext cx="4944618"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631"/>
                </a:solidFill>
                <a:latin typeface="Archivo" pitchFamily="34" charset="0"/>
                <a:ea typeface="Archivo" pitchFamily="34" charset="-122"/>
                <a:cs typeface="Archivo" pitchFamily="34" charset="-120"/>
              </a:rPr>
              <a:t>1280×720 at 30 fps. Only the fingertip position is used; nothing is saved.</a:t>
            </a:r>
            <a:endParaRPr lang="en-US" sz="1600" dirty="0"/>
          </a:p>
        </p:txBody>
      </p:sp>
      <p:sp>
        <p:nvSpPr>
          <p:cNvPr id="13" name="Shape 11"/>
          <p:cNvSpPr/>
          <p:nvPr/>
        </p:nvSpPr>
        <p:spPr>
          <a:xfrm>
            <a:off x="6172200" y="3454400"/>
            <a:ext cx="5207000" cy="1371600"/>
          </a:xfrm>
          <a:prstGeom prst="roundRect">
            <a:avLst>
              <a:gd name="adj" fmla="val 7407"/>
            </a:avLst>
          </a:prstGeom>
          <a:solidFill>
            <a:srgbClr val="F7F2E8"/>
          </a:solidFill>
          <a:ln/>
        </p:spPr>
      </p:sp>
      <p:sp>
        <p:nvSpPr>
          <p:cNvPr id="14" name="Text 12"/>
          <p:cNvSpPr/>
          <p:nvPr/>
        </p:nvSpPr>
        <p:spPr>
          <a:xfrm>
            <a:off x="6375400" y="3657600"/>
            <a:ext cx="4944618" cy="35560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1110"/>
                </a:solidFill>
                <a:latin typeface="Archivo" pitchFamily="34" charset="0"/>
                <a:ea typeface="Archivo" pitchFamily="34" charset="-122"/>
                <a:cs typeface="Archivo" pitchFamily="34" charset="-120"/>
              </a:rPr>
              <a:t>Pretrained hand model</a:t>
            </a:r>
            <a:endParaRPr lang="en-US" sz="2200" dirty="0"/>
          </a:p>
        </p:txBody>
      </p:sp>
      <p:sp>
        <p:nvSpPr>
          <p:cNvPr id="15" name="Text 13"/>
          <p:cNvSpPr/>
          <p:nvPr/>
        </p:nvSpPr>
        <p:spPr>
          <a:xfrm>
            <a:off x="6375400" y="4064000"/>
            <a:ext cx="4944618"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631"/>
                </a:solidFill>
                <a:latin typeface="Archivo" pitchFamily="34" charset="0"/>
                <a:ea typeface="Archivo" pitchFamily="34" charset="-122"/>
                <a:cs typeface="Archivo" pitchFamily="34" charset="-120"/>
              </a:rPr>
              <a:t>Google MediaPipe Hand Landmarker (21 keypoints). No training data collected.</a:t>
            </a:r>
            <a:endParaRPr lang="en-US" sz="1600" dirty="0"/>
          </a:p>
        </p:txBody>
      </p:sp>
      <p:sp>
        <p:nvSpPr>
          <p:cNvPr id="16" name="Text 14"/>
          <p:cNvSpPr/>
          <p:nvPr/>
        </p:nvSpPr>
        <p:spPr>
          <a:xfrm>
            <a:off x="812800" y="5029200"/>
            <a:ext cx="10883392" cy="4445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A3631"/>
                </a:solidFill>
                <a:latin typeface="Archivo" pitchFamily="34" charset="0"/>
                <a:ea typeface="Archivo" pitchFamily="34" charset="-122"/>
                <a:cs typeface="Archivo" pitchFamily="34" charset="-120"/>
              </a:rPr>
              <a:t>How we identified it:</a:t>
            </a:r>
            <a:r>
              <a:rPr lang="en-US" sz="1200" dirty="0">
                <a:solidFill>
                  <a:srgbClr val="3A3631"/>
                </a:solidFill>
                <a:latin typeface="Archivo" pitchFamily="34" charset="0"/>
                <a:ea typeface="Archivo" pitchFamily="34" charset="-122"/>
                <a:cs typeface="Archivo" pitchFamily="34" charset="-120"/>
              </a:rPr>
              <a:t> only images we may print (public domain or our own); the objects each scene is made of, traced by hand; and design choices grounded in accessibility research (Eyes-Free Art, Rector et al. 2017; EyeMusic) and WHO vision data.</a:t>
            </a:r>
            <a:endParaRPr lang="en-US" sz="1200" dirty="0"/>
          </a:p>
        </p:txBody>
      </p:sp>
      <p:sp>
        <p:nvSpPr>
          <p:cNvPr id="17" name="Text 15"/>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55C"/>
                </a:solidFill>
                <a:latin typeface="IBM Plex Mono" pitchFamily="49" charset="0"/>
                <a:ea typeface="IBM Plex Mono" pitchFamily="49" charset="-122"/>
                <a:cs typeface="IBM Plex Mono" pitchFamily="49" charset="-120"/>
              </a:rPr>
              <a:t>Open Canvas · DS+X 2026 Art Hack</a:t>
            </a:r>
            <a:endParaRPr lang="en-US" sz="1200" dirty="0"/>
          </a:p>
        </p:txBody>
      </p:sp>
      <p:sp>
        <p:nvSpPr>
          <p:cNvPr id="18" name="Text 16"/>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55C"/>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E7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360F"/>
                </a:solidFill>
                <a:latin typeface="IBM Plex Mono" pitchFamily="49" charset="0"/>
                <a:ea typeface="IBM Plex Mono" pitchFamily="49" charset="-122"/>
                <a:cs typeface="IBM Plex Mono" pitchFamily="49" charset="-120"/>
              </a:rPr>
              <a:t>DATA SCIENCE · METHOD 1</a:t>
            </a:r>
            <a:endParaRPr lang="en-US" sz="1200" dirty="0"/>
          </a:p>
        </p:txBody>
      </p:sp>
      <p:sp>
        <p:nvSpPr>
          <p:cNvPr id="3" name="Text 1"/>
          <p:cNvSpPr/>
          <p:nvPr>
            <p:ph type="title"/>
          </p:nvPr>
        </p:nvSpPr>
        <p:spPr>
          <a:xfrm>
            <a:off x="812800" y="12255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110"/>
                </a:solidFill>
                <a:latin typeface="Archivo" pitchFamily="34" charset="0"/>
                <a:ea typeface="Archivo" pitchFamily="34" charset="-122"/>
                <a:cs typeface="Archivo" pitchFamily="34" charset="-120"/>
              </a:rPr>
              <a:t>Segmentation and soft classification</a:t>
            </a:r>
            <a:endParaRPr lang="en-US" sz="3600" dirty="0"/>
          </a:p>
        </p:txBody>
      </p:sp>
      <p:pic>
        <p:nvPicPr>
          <p:cNvPr id="4" name="Image 0" descr="The Sunset Hills painting: sky, two clouds, a setting sun, hills, a field, a path and a tree">    </p:cNvPr>
          <p:cNvPicPr>
            <a:picLocks noChangeAspect="1"/>
          </p:cNvPicPr>
          <p:nvPr/>
        </p:nvPicPr>
        <p:blipFill>
          <a:blip r:embed="rId1"/>
          <a:srcRect l="50" r="50" t="0" b="0"/>
          <a:stretch/>
        </p:blipFill>
        <p:spPr>
          <a:xfrm>
            <a:off x="812800" y="1930400"/>
            <a:ext cx="2794000" cy="2120900"/>
          </a:xfrm>
          <a:prstGeom prst="roundRect">
            <a:avLst>
              <a:gd name="adj" fmla="val 3593"/>
            </a:avLst>
          </a:prstGeom>
        </p:spPr>
      </p:pic>
      <p:sp>
        <p:nvSpPr>
          <p:cNvPr id="5" name="Text 2"/>
          <p:cNvSpPr/>
          <p:nvPr/>
        </p:nvSpPr>
        <p:spPr>
          <a:xfrm>
            <a:off x="812800" y="4127500"/>
            <a:ext cx="287782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55C"/>
                </a:solidFill>
                <a:latin typeface="IBM Plex Mono" pitchFamily="49" charset="0"/>
                <a:ea typeface="IBM Plex Mono" pitchFamily="49" charset="-122"/>
                <a:cs typeface="IBM Plex Mono" pitchFamily="49" charset="-120"/>
              </a:rPr>
              <a:t>1 · The painting</a:t>
            </a:r>
            <a:endParaRPr lang="en-US" sz="1200" dirty="0"/>
          </a:p>
        </p:txBody>
      </p:sp>
      <p:pic>
        <p:nvPicPr>
          <p:cNvPr id="6" name="Image 1" descr="The same painting as a region map: each object filled with one flat color">    </p:cNvPr>
          <p:cNvPicPr>
            <a:picLocks noChangeAspect="1"/>
          </p:cNvPicPr>
          <p:nvPr/>
        </p:nvPicPr>
        <p:blipFill>
          <a:blip r:embed="rId2"/>
          <a:srcRect l="50" r="50" t="0" b="0"/>
          <a:stretch/>
        </p:blipFill>
        <p:spPr>
          <a:xfrm>
            <a:off x="3810000" y="1930400"/>
            <a:ext cx="2794000" cy="2120900"/>
          </a:xfrm>
          <a:prstGeom prst="roundRect">
            <a:avLst>
              <a:gd name="adj" fmla="val 3593"/>
            </a:avLst>
          </a:prstGeom>
        </p:spPr>
      </p:pic>
      <p:sp>
        <p:nvSpPr>
          <p:cNvPr id="7" name="Text 3"/>
          <p:cNvSpPr/>
          <p:nvPr/>
        </p:nvSpPr>
        <p:spPr>
          <a:xfrm>
            <a:off x="3810000" y="4127500"/>
            <a:ext cx="287782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55C"/>
                </a:solidFill>
                <a:latin typeface="IBM Plex Mono" pitchFamily="49" charset="0"/>
                <a:ea typeface="IBM Plex Mono" pitchFamily="49" charset="-122"/>
                <a:cs typeface="IBM Plex Mono" pitchFamily="49" charset="-120"/>
              </a:rPr>
              <a:t>2 · Labeled regions</a:t>
            </a:r>
            <a:endParaRPr lang="en-US" sz="1200" dirty="0"/>
          </a:p>
        </p:txBody>
      </p:sp>
      <p:pic>
        <p:nvPicPr>
          <p:cNvPr id="8" name="Image 2" descr="The painting with orange bands along every boundary between regions">    </p:cNvPr>
          <p:cNvPicPr>
            <a:picLocks noChangeAspect="1"/>
          </p:cNvPicPr>
          <p:nvPr/>
        </p:nvPicPr>
        <p:blipFill>
          <a:blip r:embed="rId3"/>
          <a:srcRect l="50" r="50" t="0" b="0"/>
          <a:stretch/>
        </p:blipFill>
        <p:spPr>
          <a:xfrm>
            <a:off x="6807200" y="1930400"/>
            <a:ext cx="2794000" cy="2120900"/>
          </a:xfrm>
          <a:prstGeom prst="roundRect">
            <a:avLst>
              <a:gd name="adj" fmla="val 3593"/>
            </a:avLst>
          </a:prstGeom>
        </p:spPr>
      </p:pic>
      <p:sp>
        <p:nvSpPr>
          <p:cNvPr id="9" name="Text 4"/>
          <p:cNvSpPr/>
          <p:nvPr/>
        </p:nvSpPr>
        <p:spPr>
          <a:xfrm>
            <a:off x="6807200" y="4127500"/>
            <a:ext cx="287782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55C"/>
                </a:solidFill>
                <a:latin typeface="IBM Plex Mono" pitchFamily="49" charset="0"/>
                <a:ea typeface="IBM Plex Mono" pitchFamily="49" charset="-122"/>
                <a:cs typeface="IBM Plex Mono" pitchFamily="49" charset="-120"/>
              </a:rPr>
              <a:t>3 · Edge band for the motor</a:t>
            </a:r>
            <a:endParaRPr lang="en-US" sz="1200" dirty="0"/>
          </a:p>
        </p:txBody>
      </p:sp>
      <p:sp>
        <p:nvSpPr>
          <p:cNvPr id="10" name="Text 5"/>
          <p:cNvSpPr/>
          <p:nvPr/>
        </p:nvSpPr>
        <p:spPr>
          <a:xfrm>
            <a:off x="812800" y="4540250"/>
            <a:ext cx="5232400" cy="35560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1110"/>
                </a:solidFill>
                <a:latin typeface="Archivo" pitchFamily="34" charset="0"/>
                <a:ea typeface="Archivo" pitchFamily="34" charset="-122"/>
                <a:cs typeface="Archivo" pitchFamily="34" charset="-120"/>
              </a:rPr>
              <a:t>Soft color classes</a:t>
            </a:r>
            <a:endParaRPr lang="en-US" sz="2200" dirty="0"/>
          </a:p>
        </p:txBody>
      </p:sp>
      <p:sp>
        <p:nvSpPr>
          <p:cNvPr id="11" name="Text 6"/>
          <p:cNvSpPr/>
          <p:nvPr/>
        </p:nvSpPr>
        <p:spPr>
          <a:xfrm>
            <a:off x="812800" y="4921250"/>
            <a:ext cx="5232400"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631"/>
                </a:solidFill>
                <a:latin typeface="Archivo" pitchFamily="34" charset="0"/>
                <a:ea typeface="Archivo" pitchFamily="34" charset="-122"/>
                <a:cs typeface="Archivo" pitchFamily="34" charset="-120"/>
              </a:rPr>
              <a:t>Each color gets weights for five instruments that sum to 1, so sound crossfades at borders instead of flickering.</a:t>
            </a:r>
            <a:endParaRPr lang="en-US" sz="1600" dirty="0"/>
          </a:p>
        </p:txBody>
      </p:sp>
      <p:sp>
        <p:nvSpPr>
          <p:cNvPr id="12" name="Text 7"/>
          <p:cNvSpPr/>
          <p:nvPr/>
        </p:nvSpPr>
        <p:spPr>
          <a:xfrm>
            <a:off x="6299200" y="4540250"/>
            <a:ext cx="5232400" cy="35560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8360F"/>
                </a:solidFill>
                <a:latin typeface="Archivo" pitchFamily="34" charset="0"/>
                <a:ea typeface="Archivo" pitchFamily="34" charset="-122"/>
                <a:cs typeface="Archivo" pitchFamily="34" charset="-120"/>
              </a:rPr>
              <a:t>A data-quality catch</a:t>
            </a:r>
            <a:endParaRPr lang="en-US" sz="2200" dirty="0"/>
          </a:p>
        </p:txBody>
      </p:sp>
      <p:sp>
        <p:nvSpPr>
          <p:cNvPr id="13" name="Text 8"/>
          <p:cNvSpPr/>
          <p:nvPr/>
        </p:nvSpPr>
        <p:spPr>
          <a:xfrm>
            <a:off x="6299200" y="4921250"/>
            <a:ext cx="5232400"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631"/>
                </a:solidFill>
                <a:latin typeface="Archivo" pitchFamily="34" charset="0"/>
                <a:ea typeface="Archivo" pitchFamily="34" charset="-122"/>
                <a:cs typeface="Archivo" pitchFamily="34" charset="-120"/>
              </a:rPr>
              <a:t>Luma reads navy as 0.06 (black, so cello). HSL lightness reads 0.25 (blue, so harp). We use lightness.</a:t>
            </a:r>
            <a:endParaRPr lang="en-US" sz="1600" dirty="0"/>
          </a:p>
        </p:txBody>
      </p:sp>
      <p:sp>
        <p:nvSpPr>
          <p:cNvPr id="14" name="Text 9"/>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55C"/>
                </a:solidFill>
                <a:latin typeface="IBM Plex Mono" pitchFamily="49" charset="0"/>
                <a:ea typeface="IBM Plex Mono" pitchFamily="49" charset="-122"/>
                <a:cs typeface="IBM Plex Mono" pitchFamily="49" charset="-120"/>
              </a:rPr>
              <a:t>Open Canvas · DS+X 2026 Art Hack</a:t>
            </a:r>
            <a:endParaRPr lang="en-US" sz="1200" dirty="0"/>
          </a:p>
        </p:txBody>
      </p:sp>
      <p:sp>
        <p:nvSpPr>
          <p:cNvPr id="15" name="Text 10"/>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55C"/>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110"/>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4B1F"/>
                </a:solidFill>
                <a:latin typeface="IBM Plex Mono" pitchFamily="49" charset="0"/>
                <a:ea typeface="IBM Plex Mono" pitchFamily="49" charset="-122"/>
                <a:cs typeface="IBM Plex Mono" pitchFamily="49" charset="-120"/>
              </a:rPr>
              <a:t>DATA SCIENCE · METHOD 2</a:t>
            </a:r>
            <a:endParaRPr lang="en-US" sz="1200" dirty="0"/>
          </a:p>
        </p:txBody>
      </p:sp>
      <p:sp>
        <p:nvSpPr>
          <p:cNvPr id="3" name="Text 1"/>
          <p:cNvSpPr/>
          <p:nvPr>
            <p:ph type="title"/>
          </p:nvPr>
        </p:nvSpPr>
        <p:spPr>
          <a:xfrm>
            <a:off x="812800" y="12763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E7D8"/>
                </a:solidFill>
                <a:latin typeface="Archivo" pitchFamily="34" charset="0"/>
                <a:ea typeface="Archivo" pitchFamily="34" charset="-122"/>
                <a:cs typeface="Archivo" pitchFamily="34" charset="-120"/>
              </a:rPr>
              <a:t>Prediction with anomaly rejection</a:t>
            </a:r>
            <a:endParaRPr lang="en-US" sz="3600" dirty="0"/>
          </a:p>
        </p:txBody>
      </p:sp>
      <p:pic>
        <p:nvPicPr>
          <p:cNvPr id="4" name="Image 0" descr="Live view with the predicted hand skeleton over the painting; the status line reads markers 3 of 4, H reused">    </p:cNvPr>
          <p:cNvPicPr>
            <a:picLocks noChangeAspect="1"/>
          </p:cNvPicPr>
          <p:nvPr/>
        </p:nvPicPr>
        <p:blipFill>
          <a:blip r:embed="rId1"/>
          <a:srcRect l="62" r="62" t="0" b="0"/>
          <a:stretch/>
        </p:blipFill>
        <p:spPr>
          <a:xfrm>
            <a:off x="812800" y="2032000"/>
            <a:ext cx="4064000" cy="2260600"/>
          </a:xfrm>
          <a:prstGeom prst="roundRect">
            <a:avLst>
              <a:gd name="adj" fmla="val 4494"/>
            </a:avLst>
          </a:prstGeom>
        </p:spPr>
      </p:pic>
      <p:sp>
        <p:nvSpPr>
          <p:cNvPr id="5" name="Text 2"/>
          <p:cNvSpPr/>
          <p:nvPr/>
        </p:nvSpPr>
        <p:spPr>
          <a:xfrm>
            <a:off x="812800" y="4394200"/>
            <a:ext cx="4185920"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87C"/>
                </a:solidFill>
                <a:latin typeface="IBM Plex Mono" pitchFamily="49" charset="0"/>
                <a:ea typeface="IBM Plex Mono" pitchFamily="49" charset="-122"/>
                <a:cs typeface="IBM Plex Mono" pitchFamily="49" charset="-120"/>
              </a:rPr>
              <a:t>“markers 3/4 · H reused”: the fallback, live.</a:t>
            </a:r>
            <a:endParaRPr lang="en-US" sz="1200" dirty="0"/>
          </a:p>
        </p:txBody>
      </p:sp>
      <p:sp>
        <p:nvSpPr>
          <p:cNvPr id="6" name="Text 3"/>
          <p:cNvSpPr/>
          <p:nvPr/>
        </p:nvSpPr>
        <p:spPr>
          <a:xfrm>
            <a:off x="5283200" y="2038350"/>
            <a:ext cx="6278880" cy="5842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4B1F"/>
                </a:solidFill>
                <a:latin typeface="Archivo" pitchFamily="34" charset="0"/>
                <a:ea typeface="Archivo" pitchFamily="34" charset="-122"/>
                <a:cs typeface="Archivo" pitchFamily="34" charset="-120"/>
              </a:rPr>
              <a:t>Predict.</a:t>
            </a:r>
            <a:r>
              <a:rPr lang="en-US" sz="1600" dirty="0">
                <a:solidFill>
                  <a:srgbClr val="CFC8BA"/>
                </a:solidFill>
                <a:latin typeface="Archivo" pitchFamily="34" charset="0"/>
                <a:ea typeface="Archivo" pitchFamily="34" charset="-122"/>
                <a:cs typeface="Archivo" pitchFamily="34" charset="-120"/>
              </a:rPr>
              <a:t> A pretrained model finds 21 hand keypoints; we keep the fingertip if confidence ≥ 0.5.</a:t>
            </a:r>
            <a:endParaRPr lang="en-US" sz="1600" dirty="0"/>
          </a:p>
        </p:txBody>
      </p:sp>
      <p:sp>
        <p:nvSpPr>
          <p:cNvPr id="7" name="Text 4"/>
          <p:cNvSpPr/>
          <p:nvPr/>
        </p:nvSpPr>
        <p:spPr>
          <a:xfrm>
            <a:off x="5283200" y="2774950"/>
            <a:ext cx="6278880" cy="5842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4B1F"/>
                </a:solidFill>
                <a:latin typeface="Archivo" pitchFamily="34" charset="0"/>
                <a:ea typeface="Archivo" pitchFamily="34" charset="-122"/>
                <a:cs typeface="Archivo" pitchFamily="34" charset="-120"/>
              </a:rPr>
              <a:t>Reject outliers.</a:t>
            </a:r>
            <a:r>
              <a:rPr lang="en-US" sz="1600" dirty="0">
                <a:solidFill>
                  <a:srgbClr val="CFC8BA"/>
                </a:solidFill>
                <a:latin typeface="Archivo" pitchFamily="34" charset="0"/>
                <a:ea typeface="Archivo" pitchFamily="34" charset="-122"/>
                <a:cs typeface="Archivo" pitchFamily="34" charset="-120"/>
              </a:rPr>
              <a:t> A non-convex marker shape is a bad detection; we keep the last good mapping.</a:t>
            </a:r>
            <a:endParaRPr lang="en-US" sz="1600" dirty="0"/>
          </a:p>
        </p:txBody>
      </p:sp>
      <p:sp>
        <p:nvSpPr>
          <p:cNvPr id="8" name="Text 5"/>
          <p:cNvSpPr/>
          <p:nvPr/>
        </p:nvSpPr>
        <p:spPr>
          <a:xfrm>
            <a:off x="5283200" y="3511550"/>
            <a:ext cx="6278880" cy="5842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4B1F"/>
                </a:solidFill>
                <a:latin typeface="Archivo" pitchFamily="34" charset="0"/>
                <a:ea typeface="Archivo" pitchFamily="34" charset="-122"/>
                <a:cs typeface="Archivo" pitchFamily="34" charset="-120"/>
              </a:rPr>
              <a:t>Smooth.</a:t>
            </a:r>
            <a:r>
              <a:rPr lang="en-US" sz="1600" dirty="0">
                <a:solidFill>
                  <a:srgbClr val="CFC8BA"/>
                </a:solidFill>
                <a:latin typeface="Archivo" pitchFamily="34" charset="0"/>
                <a:ea typeface="Archivo" pitchFamily="34" charset="-122"/>
                <a:cs typeface="Archivo" pitchFamily="34" charset="-120"/>
              </a:rPr>
              <a:t> An exponential moving average (α = 0.5) steadies the fingertip.</a:t>
            </a:r>
            <a:endParaRPr lang="en-US" sz="1600" dirty="0"/>
          </a:p>
        </p:txBody>
      </p:sp>
      <p:sp>
        <p:nvSpPr>
          <p:cNvPr id="9" name="Text 6"/>
          <p:cNvSpPr/>
          <p:nvPr/>
        </p:nvSpPr>
        <p:spPr>
          <a:xfrm>
            <a:off x="5283200" y="4248150"/>
            <a:ext cx="6278880" cy="5842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4B1F"/>
                </a:solidFill>
                <a:latin typeface="Archivo" pitchFamily="34" charset="0"/>
                <a:ea typeface="Archivo" pitchFamily="34" charset="-122"/>
                <a:cs typeface="Archivo" pitchFamily="34" charset="-120"/>
              </a:rPr>
              <a:t>Debounce.</a:t>
            </a:r>
            <a:r>
              <a:rPr lang="en-US" sz="1600" dirty="0">
                <a:solidFill>
                  <a:srgbClr val="CFC8BA"/>
                </a:solidFill>
                <a:latin typeface="Archivo" pitchFamily="34" charset="0"/>
                <a:ea typeface="Archivo" pitchFamily="34" charset="-122"/>
                <a:cs typeface="Archivo" pitchFamily="34" charset="-120"/>
              </a:rPr>
              <a:t> The motor switches after 2 agreeing frames; a description needs 2.5 s of stillness.</a:t>
            </a:r>
            <a:endParaRPr lang="en-US" sz="1600" dirty="0"/>
          </a:p>
        </p:txBody>
      </p:sp>
      <p:sp>
        <p:nvSpPr>
          <p:cNvPr id="10" name="Text 7"/>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87C"/>
                </a:solidFill>
                <a:latin typeface="IBM Plex Mono" pitchFamily="49" charset="0"/>
                <a:ea typeface="IBM Plex Mono" pitchFamily="49" charset="-122"/>
                <a:cs typeface="IBM Plex Mono" pitchFamily="49" charset="-120"/>
              </a:rPr>
              <a:t>Open Canvas · DS+X 2026 Art Hack</a:t>
            </a:r>
            <a:endParaRPr lang="en-US" sz="1200" dirty="0"/>
          </a:p>
        </p:txBody>
      </p:sp>
      <p:sp>
        <p:nvSpPr>
          <p:cNvPr id="11" name="Text 8"/>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887C"/>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4B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21110"/>
                </a:solidFill>
                <a:latin typeface="IBM Plex Mono" pitchFamily="49" charset="0"/>
                <a:ea typeface="IBM Plex Mono" pitchFamily="49" charset="-122"/>
                <a:cs typeface="IBM Plex Mono" pitchFamily="49" charset="-120"/>
              </a:rPr>
              <a:t>IMPACT</a:t>
            </a:r>
            <a:endParaRPr lang="en-US" sz="1200" dirty="0"/>
          </a:p>
        </p:txBody>
      </p:sp>
      <p:sp>
        <p:nvSpPr>
          <p:cNvPr id="3" name="Text 1"/>
          <p:cNvSpPr/>
          <p:nvPr>
            <p:ph type="title"/>
          </p:nvPr>
        </p:nvSpPr>
        <p:spPr>
          <a:xfrm>
            <a:off x="812800" y="12763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110"/>
                </a:solidFill>
                <a:latin typeface="Archivo" pitchFamily="34" charset="0"/>
                <a:ea typeface="Archivo" pitchFamily="34" charset="-122"/>
                <a:cs typeface="Archivo" pitchFamily="34" charset="-120"/>
              </a:rPr>
              <a:t>Explore art on your own terms</a:t>
            </a:r>
            <a:endParaRPr lang="en-US" sz="3600" dirty="0"/>
          </a:p>
        </p:txBody>
      </p:sp>
      <p:sp>
        <p:nvSpPr>
          <p:cNvPr id="4" name="Text 2"/>
          <p:cNvSpPr/>
          <p:nvPr/>
        </p:nvSpPr>
        <p:spPr>
          <a:xfrm>
            <a:off x="812800" y="2032000"/>
            <a:ext cx="341843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21110"/>
                </a:solidFill>
                <a:latin typeface="Archivo" pitchFamily="34" charset="0"/>
                <a:ea typeface="Archivo" pitchFamily="34" charset="-122"/>
                <a:cs typeface="Archivo" pitchFamily="34" charset="-120"/>
              </a:rPr>
              <a:t>≈$95</a:t>
            </a:r>
            <a:endParaRPr lang="en-US" sz="6000" dirty="0"/>
          </a:p>
        </p:txBody>
      </p:sp>
      <p:sp>
        <p:nvSpPr>
          <p:cNvPr id="5" name="Text 3"/>
          <p:cNvSpPr/>
          <p:nvPr/>
        </p:nvSpPr>
        <p:spPr>
          <a:xfrm>
            <a:off x="812800" y="2895600"/>
            <a:ext cx="3418433"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110"/>
                </a:solidFill>
                <a:latin typeface="Archivo" pitchFamily="34" charset="0"/>
                <a:ea typeface="Archivo" pitchFamily="34" charset="-122"/>
                <a:cs typeface="Archivo" pitchFamily="34" charset="-120"/>
              </a:rPr>
              <a:t>in parts we bought (webcam, desk arm, motors), plus a laptop and an Arduino.</a:t>
            </a:r>
            <a:endParaRPr lang="en-US" sz="1600" dirty="0"/>
          </a:p>
        </p:txBody>
      </p:sp>
      <p:sp>
        <p:nvSpPr>
          <p:cNvPr id="6" name="Text 4"/>
          <p:cNvSpPr/>
          <p:nvPr/>
        </p:nvSpPr>
        <p:spPr>
          <a:xfrm>
            <a:off x="4436467" y="2032000"/>
            <a:ext cx="3418535"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21110"/>
                </a:solidFill>
                <a:latin typeface="Archivo" pitchFamily="34" charset="0"/>
                <a:ea typeface="Archivo" pitchFamily="34" charset="-122"/>
                <a:cs typeface="Archivo" pitchFamily="34" charset="-120"/>
              </a:rPr>
              <a:t>4</a:t>
            </a:r>
            <a:endParaRPr lang="en-US" sz="6000" dirty="0"/>
          </a:p>
        </p:txBody>
      </p:sp>
      <p:sp>
        <p:nvSpPr>
          <p:cNvPr id="7" name="Text 5"/>
          <p:cNvSpPr/>
          <p:nvPr/>
        </p:nvSpPr>
        <p:spPr>
          <a:xfrm>
            <a:off x="4436467" y="2895600"/>
            <a:ext cx="3418535"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110"/>
                </a:solidFill>
                <a:latin typeface="Archivo" pitchFamily="34" charset="0"/>
                <a:ea typeface="Archivo" pitchFamily="34" charset="-122"/>
                <a:cs typeface="Archivo" pitchFamily="34" charset="-120"/>
              </a:rPr>
              <a:t>paintings today. A new one needs an image, a region map and text, not new code.</a:t>
            </a:r>
            <a:endParaRPr lang="en-US" sz="1600" dirty="0"/>
          </a:p>
        </p:txBody>
      </p:sp>
      <p:sp>
        <p:nvSpPr>
          <p:cNvPr id="8" name="Text 6"/>
          <p:cNvSpPr/>
          <p:nvPr/>
        </p:nvSpPr>
        <p:spPr>
          <a:xfrm>
            <a:off x="8060234" y="2032000"/>
            <a:ext cx="341843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21110"/>
                </a:solidFill>
                <a:latin typeface="Archivo" pitchFamily="34" charset="0"/>
                <a:ea typeface="Archivo" pitchFamily="34" charset="-122"/>
                <a:cs typeface="Archivo" pitchFamily="34" charset="-120"/>
              </a:rPr>
              <a:t>0</a:t>
            </a:r>
            <a:endParaRPr lang="en-US" sz="6000" dirty="0"/>
          </a:p>
        </p:txBody>
      </p:sp>
      <p:sp>
        <p:nvSpPr>
          <p:cNvPr id="9" name="Text 7"/>
          <p:cNvSpPr/>
          <p:nvPr/>
        </p:nvSpPr>
        <p:spPr>
          <a:xfrm>
            <a:off x="8060234" y="2895600"/>
            <a:ext cx="3418433"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110"/>
                </a:solidFill>
                <a:latin typeface="Archivo" pitchFamily="34" charset="0"/>
                <a:ea typeface="Archivo" pitchFamily="34" charset="-122"/>
                <a:cs typeface="Archivo" pitchFamily="34" charset="-120"/>
              </a:rPr>
              <a:t>screens or menus for the visitor. Swap the page; Siri starts the app.</a:t>
            </a:r>
            <a:endParaRPr lang="en-US" sz="1600" dirty="0"/>
          </a:p>
        </p:txBody>
      </p:sp>
      <p:sp>
        <p:nvSpPr>
          <p:cNvPr id="10" name="Text 8"/>
          <p:cNvSpPr/>
          <p:nvPr/>
        </p:nvSpPr>
        <p:spPr>
          <a:xfrm>
            <a:off x="812800" y="3987800"/>
            <a:ext cx="10883392" cy="355600"/>
          </a:xfrm>
          <a:prstGeom prst="rect">
            <a:avLst/>
          </a:prstGeom>
          <a:noFill/>
          <a:ln/>
        </p:spPr>
        <p:txBody>
          <a:bodyPr wrap="square" lIns="0" tIns="0" rIns="0" bIns="0" rtlCol="0" anchor="t">
            <a:normAutofit/>
          </a:bodyPr>
          <a:lstStyle/>
          <a:p>
            <a:pPr algn="l" indent="0" marL="0">
              <a:lnSpc>
                <a:spcPts val="2640"/>
              </a:lnSpc>
              <a:buNone/>
            </a:pPr>
            <a:r>
              <a:rPr lang="en-US" sz="2200" i="1" dirty="0">
                <a:solidFill>
                  <a:srgbClr val="121110"/>
                </a:solidFill>
                <a:latin typeface="Instrument Serif" pitchFamily="18" charset="0"/>
                <a:ea typeface="Instrument Serif" pitchFamily="18" charset="-122"/>
                <a:cs typeface="Instrument Serif" pitchFamily="18" charset="-120"/>
              </a:rPr>
              <a:t>Instead of someone else’s tour, visitors choose where to go, in any order, at their own pace.</a:t>
            </a:r>
            <a:endParaRPr lang="en-US" sz="2200" dirty="0"/>
          </a:p>
        </p:txBody>
      </p:sp>
      <p:sp>
        <p:nvSpPr>
          <p:cNvPr id="11" name="Text 9"/>
          <p:cNvSpPr/>
          <p:nvPr/>
        </p:nvSpPr>
        <p:spPr>
          <a:xfrm>
            <a:off x="812800" y="45720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110"/>
                </a:solidFill>
                <a:latin typeface="IBM Plex Mono" pitchFamily="49" charset="0"/>
                <a:ea typeface="IBM Plex Mono" pitchFamily="49" charset="-122"/>
                <a:cs typeface="IBM Plex Mono" pitchFamily="49" charset="-120"/>
              </a:rPr>
              <a:t>So far tested with blindfolded sighted testers. Next: blind and low-vision users.</a:t>
            </a:r>
            <a:endParaRPr lang="en-US" sz="1200" dirty="0"/>
          </a:p>
        </p:txBody>
      </p:sp>
      <p:sp>
        <p:nvSpPr>
          <p:cNvPr id="12" name="Text 10"/>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110"/>
                </a:solidFill>
                <a:latin typeface="IBM Plex Mono" pitchFamily="49" charset="0"/>
                <a:ea typeface="IBM Plex Mono" pitchFamily="49" charset="-122"/>
                <a:cs typeface="IBM Plex Mono" pitchFamily="49" charset="-120"/>
              </a:rPr>
              <a:t>Open Canvas · DS+X 2026 Art Hack</a:t>
            </a:r>
            <a:endParaRPr lang="en-US" sz="1200" dirty="0"/>
          </a:p>
        </p:txBody>
      </p:sp>
      <p:sp>
        <p:nvSpPr>
          <p:cNvPr id="13" name="Text 11"/>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110"/>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110"/>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4B1F"/>
                </a:solidFill>
                <a:latin typeface="IBM Plex Mono" pitchFamily="49" charset="0"/>
                <a:ea typeface="IBM Plex Mono" pitchFamily="49" charset="-122"/>
                <a:cs typeface="IBM Plex Mono" pitchFamily="49" charset="-120"/>
              </a:rPr>
              <a:t>ETHICS &amp; RESPONSIBILITY</a:t>
            </a:r>
            <a:endParaRPr lang="en-US" sz="1200" dirty="0"/>
          </a:p>
        </p:txBody>
      </p:sp>
      <p:sp>
        <p:nvSpPr>
          <p:cNvPr id="3" name="Text 1"/>
          <p:cNvSpPr/>
          <p:nvPr>
            <p:ph type="title"/>
          </p:nvPr>
        </p:nvSpPr>
        <p:spPr>
          <a:xfrm>
            <a:off x="812800" y="12763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E7D8"/>
                </a:solidFill>
                <a:latin typeface="Archivo" pitchFamily="34" charset="0"/>
                <a:ea typeface="Archivo" pitchFamily="34" charset="-122"/>
                <a:cs typeface="Archivo" pitchFamily="34" charset="-120"/>
              </a:rPr>
              <a:t>Our statement</a:t>
            </a:r>
            <a:endParaRPr lang="en-US" sz="3600" dirty="0"/>
          </a:p>
        </p:txBody>
      </p:sp>
      <p:sp>
        <p:nvSpPr>
          <p:cNvPr id="4" name="Text 2"/>
          <p:cNvSpPr/>
          <p:nvPr/>
        </p:nvSpPr>
        <p:spPr>
          <a:xfrm>
            <a:off x="812800" y="2032000"/>
            <a:ext cx="10883392" cy="265430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EEE7D8"/>
                </a:solidFill>
                <a:latin typeface="Archivo" pitchFamily="34" charset="0"/>
                <a:ea typeface="Archivo" pitchFamily="34" charset="-122"/>
                <a:cs typeface="Archivo" pitchFamily="34" charset="-120"/>
              </a:rPr>
              <a:t>Open Canvas is for blind and low-vision people, so its mistakes cost them more than us.</a:t>
            </a:r>
            <a:r>
              <a:rPr lang="en-US" sz="1600" dirty="0">
                <a:solidFill>
                  <a:srgbClr val="CFC8BA"/>
                </a:solidFill>
                <a:latin typeface="Archivo" pitchFamily="34" charset="0"/>
                <a:ea typeface="Archivo" pitchFamily="34" charset="-122"/>
                <a:cs typeface="Archivo" pitchFamily="34" charset="-120"/>
              </a:rPr>
              <a:t> We print only public-domain paintings or our own, credit ElevenLabs for generated voices and sounds, and use Google’s pretrained hand model without collecting training data. The camera looks down at the table; frames stay in memory, are never saved or uploaded, and only the fingertip position is used. Hand tracking may work less well for some skin tones, lighting or hand differences, which we have not yet measured; our descriptions carry a sighted team’s reading of mostly Western art; and the system assumes hearing, English and a usable fingertip. Because a wrong description misleads someone who can’t check it, every spoken line is written and reviewed by us, not generated live. The overview explains the system before exploring, the README lists sources and limits, and so far only blindfolded sighted people have tested it. </a:t>
            </a:r>
            <a:r>
              <a:rPr lang="en-US" sz="1600" dirty="0">
                <a:solidFill>
                  <a:srgbClr val="FF4B1F"/>
                </a:solidFill>
                <a:latin typeface="Archivo" pitchFamily="34" charset="0"/>
                <a:ea typeface="Archivo" pitchFamily="34" charset="-122"/>
                <a:cs typeface="Archivo" pitchFamily="34" charset="-120"/>
              </a:rPr>
              <a:t>Blind and low-vision users must shape what comes next.</a:t>
            </a:r>
            <a:endParaRPr lang="en-US" sz="1600" dirty="0"/>
          </a:p>
        </p:txBody>
      </p:sp>
      <p:sp>
        <p:nvSpPr>
          <p:cNvPr id="5" name="Text 3"/>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87C"/>
                </a:solidFill>
                <a:latin typeface="IBM Plex Mono" pitchFamily="49" charset="0"/>
                <a:ea typeface="IBM Plex Mono" pitchFamily="49" charset="-122"/>
                <a:cs typeface="IBM Plex Mono" pitchFamily="49" charset="-120"/>
              </a:rPr>
              <a:t>Open Canvas · DS+X 2026 Art Hack</a:t>
            </a:r>
            <a:endParaRPr lang="en-US" sz="1200" dirty="0"/>
          </a:p>
        </p:txBody>
      </p:sp>
      <p:sp>
        <p:nvSpPr>
          <p:cNvPr id="6" name="Text 4"/>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887C"/>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E7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360F"/>
                </a:solidFill>
                <a:latin typeface="IBM Plex Mono" pitchFamily="49" charset="0"/>
                <a:ea typeface="IBM Plex Mono" pitchFamily="49" charset="-122"/>
                <a:cs typeface="IBM Plex Mono" pitchFamily="49" charset="-120"/>
              </a:rPr>
              <a:t>ETHICS · DATA, PRIVACY, FAIRNESS</a:t>
            </a:r>
            <a:endParaRPr lang="en-US" sz="1200" dirty="0"/>
          </a:p>
        </p:txBody>
      </p:sp>
      <p:sp>
        <p:nvSpPr>
          <p:cNvPr id="3" name="Text 1"/>
          <p:cNvSpPr/>
          <p:nvPr>
            <p:ph type="title"/>
          </p:nvPr>
        </p:nvSpPr>
        <p:spPr>
          <a:xfrm>
            <a:off x="812800" y="12763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110"/>
                </a:solidFill>
                <a:latin typeface="Archivo" pitchFamily="34" charset="0"/>
                <a:ea typeface="Archivo" pitchFamily="34" charset="-122"/>
                <a:cs typeface="Archivo" pitchFamily="34" charset="-120"/>
              </a:rPr>
              <a:t>Sourcing, privacy and fairness</a:t>
            </a:r>
            <a:endParaRPr lang="en-US" sz="3600" dirty="0"/>
          </a:p>
        </p:txBody>
      </p:sp>
      <p:sp>
        <p:nvSpPr>
          <p:cNvPr id="4" name="Text 2"/>
          <p:cNvSpPr/>
          <p:nvPr/>
        </p:nvSpPr>
        <p:spPr>
          <a:xfrm>
            <a:off x="812800" y="2032000"/>
            <a:ext cx="5232400" cy="35560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1110"/>
                </a:solidFill>
                <a:latin typeface="Archivo" pitchFamily="34" charset="0"/>
                <a:ea typeface="Archivo" pitchFamily="34" charset="-122"/>
                <a:cs typeface="Archivo" pitchFamily="34" charset="-120"/>
              </a:rPr>
              <a:t>Responsible sourcing &amp; use</a:t>
            </a:r>
            <a:endParaRPr lang="en-US" sz="2200" dirty="0"/>
          </a:p>
        </p:txBody>
      </p:sp>
      <p:sp>
        <p:nvSpPr>
          <p:cNvPr id="5" name="Text 3"/>
          <p:cNvSpPr/>
          <p:nvPr/>
        </p:nvSpPr>
        <p:spPr>
          <a:xfrm>
            <a:off x="895858" y="2489200"/>
            <a:ext cx="5141722" cy="1981200"/>
          </a:xfrm>
          <a:prstGeom prst="rect">
            <a:avLst/>
          </a:prstGeom>
          <a:noFill/>
          <a:ln/>
        </p:spPr>
        <p:txBody>
          <a:bodyPr wrap="square" lIns="0" tIns="0" rIns="0" bIns="0" rtlCol="0" anchor="t">
            <a:normAutofit/>
          </a:bodyPr>
          <a:lstStyle/>
          <a:p>
            <a:pPr algn="l" marL="170942" indent="-170942">
              <a:lnSpc>
                <a:spcPts val="2240"/>
              </a:lnSpc>
              <a:buSzPct val="100000"/>
              <a:buChar char="•"/>
            </a:pPr>
            <a:r>
              <a:rPr lang="en-US" sz="1600" dirty="0">
                <a:solidFill>
                  <a:srgbClr val="3A3631"/>
                </a:solidFill>
                <a:latin typeface="Archivo" pitchFamily="34" charset="0"/>
                <a:ea typeface="Archivo" pitchFamily="34" charset="-122"/>
                <a:cs typeface="Archivo" pitchFamily="34" charset="-120"/>
              </a:rPr>
              <a:t>Paintings are public domain (Wikimedia Commons) or our own.</a:t>
            </a:r>
            <a:endParaRPr lang="en-US" sz="1600" dirty="0"/>
          </a:p>
          <a:p>
            <a:pPr algn="l" marL="170942" indent="-170942">
              <a:lnSpc>
                <a:spcPts val="2240"/>
              </a:lnSpc>
              <a:buSzPct val="100000"/>
              <a:buChar char="•"/>
            </a:pPr>
            <a:r>
              <a:rPr lang="en-US" sz="1600" dirty="0">
                <a:solidFill>
                  <a:srgbClr val="3A3631"/>
                </a:solidFill>
                <a:latin typeface="Archivo" pitchFamily="34" charset="0"/>
                <a:ea typeface="Archivo" pitchFamily="34" charset="-122"/>
                <a:cs typeface="Archivo" pitchFamily="34" charset="-120"/>
              </a:rPr>
              <a:t>We drew every region map and wrote every description.</a:t>
            </a:r>
            <a:endParaRPr lang="en-US" sz="1600" dirty="0"/>
          </a:p>
          <a:p>
            <a:pPr algn="l" marL="170942" indent="-170942">
              <a:lnSpc>
                <a:spcPts val="2240"/>
              </a:lnSpc>
              <a:buSzPct val="100000"/>
              <a:buChar char="•"/>
            </a:pPr>
            <a:r>
              <a:rPr lang="en-US" sz="1600" dirty="0">
                <a:solidFill>
                  <a:srgbClr val="3A3631"/>
                </a:solidFill>
                <a:latin typeface="Archivo" pitchFamily="34" charset="0"/>
                <a:ea typeface="Archivo" pitchFamily="34" charset="-122"/>
                <a:cs typeface="Archivo" pitchFamily="34" charset="-120"/>
              </a:rPr>
              <a:t>ElevenLabs voices and effects, credited as its free plan requires.</a:t>
            </a:r>
            <a:endParaRPr lang="en-US" sz="1600" dirty="0"/>
          </a:p>
          <a:p>
            <a:pPr algn="l" marL="170942" indent="-170942">
              <a:lnSpc>
                <a:spcPts val="2240"/>
              </a:lnSpc>
              <a:buSzPct val="100000"/>
              <a:buChar char="•"/>
            </a:pPr>
            <a:r>
              <a:rPr lang="en-US" sz="1600" dirty="0">
                <a:solidFill>
                  <a:srgbClr val="3A3631"/>
                </a:solidFill>
                <a:latin typeface="Archivo" pitchFamily="34" charset="0"/>
                <a:ea typeface="Archivo" pitchFamily="34" charset="-122"/>
                <a:cs typeface="Archivo" pitchFamily="34" charset="-120"/>
              </a:rPr>
              <a:t>Research and the WHO figure are cited by name.</a:t>
            </a:r>
            <a:endParaRPr lang="en-US" sz="1600" dirty="0"/>
          </a:p>
        </p:txBody>
      </p:sp>
      <p:sp>
        <p:nvSpPr>
          <p:cNvPr id="6" name="Text 4"/>
          <p:cNvSpPr/>
          <p:nvPr/>
        </p:nvSpPr>
        <p:spPr>
          <a:xfrm>
            <a:off x="6299200" y="2032000"/>
            <a:ext cx="5232400" cy="35560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1110"/>
                </a:solidFill>
                <a:latin typeface="Archivo" pitchFamily="34" charset="0"/>
                <a:ea typeface="Archivo" pitchFamily="34" charset="-122"/>
                <a:cs typeface="Archivo" pitchFamily="34" charset="-120"/>
              </a:rPr>
              <a:t>Privacy, bias &amp; fairness</a:t>
            </a:r>
            <a:endParaRPr lang="en-US" sz="2200" dirty="0"/>
          </a:p>
        </p:txBody>
      </p:sp>
      <p:sp>
        <p:nvSpPr>
          <p:cNvPr id="7" name="Text 5"/>
          <p:cNvSpPr/>
          <p:nvPr/>
        </p:nvSpPr>
        <p:spPr>
          <a:xfrm>
            <a:off x="6382258" y="2489200"/>
            <a:ext cx="5141722" cy="2260600"/>
          </a:xfrm>
          <a:prstGeom prst="rect">
            <a:avLst/>
          </a:prstGeom>
          <a:noFill/>
          <a:ln/>
        </p:spPr>
        <p:txBody>
          <a:bodyPr wrap="square" lIns="0" tIns="0" rIns="0" bIns="0" rtlCol="0" anchor="t">
            <a:normAutofit/>
          </a:bodyPr>
          <a:lstStyle/>
          <a:p>
            <a:pPr algn="l" marL="170942" indent="-170942">
              <a:lnSpc>
                <a:spcPts val="2240"/>
              </a:lnSpc>
              <a:buSzPct val="100000"/>
              <a:buChar char="•"/>
            </a:pPr>
            <a:r>
              <a:rPr lang="en-US" sz="1600" dirty="0">
                <a:solidFill>
                  <a:srgbClr val="3A3631"/>
                </a:solidFill>
                <a:latin typeface="Archivo" pitchFamily="34" charset="0"/>
                <a:ea typeface="Archivo" pitchFamily="34" charset="-122"/>
                <a:cs typeface="Archivo" pitchFamily="34" charset="-120"/>
              </a:rPr>
              <a:t>The camera points at the table; frames are never stored or sent.</a:t>
            </a:r>
            <a:endParaRPr lang="en-US" sz="1600" dirty="0"/>
          </a:p>
          <a:p>
            <a:pPr algn="l" marL="170942" indent="-170942">
              <a:lnSpc>
                <a:spcPts val="2240"/>
              </a:lnSpc>
              <a:buSzPct val="100000"/>
              <a:buChar char="•"/>
            </a:pPr>
            <a:r>
              <a:rPr lang="en-US" sz="1600" dirty="0">
                <a:solidFill>
                  <a:srgbClr val="3A3631"/>
                </a:solidFill>
                <a:latin typeface="Archivo" pitchFamily="34" charset="0"/>
                <a:ea typeface="Archivo" pitchFamily="34" charset="-122"/>
                <a:cs typeface="Archivo" pitchFamily="34" charset="-120"/>
              </a:rPr>
              <a:t>Hand tracking may vary with skin tone, lighting or limb differences; not yet measured.</a:t>
            </a:r>
            <a:endParaRPr lang="en-US" sz="1600" dirty="0"/>
          </a:p>
          <a:p>
            <a:pPr algn="l" marL="170942" indent="-170942">
              <a:lnSpc>
                <a:spcPts val="2240"/>
              </a:lnSpc>
              <a:buSzPct val="100000"/>
              <a:buChar char="•"/>
            </a:pPr>
            <a:r>
              <a:rPr lang="en-US" sz="1600" dirty="0">
                <a:solidFill>
                  <a:srgbClr val="3A3631"/>
                </a:solidFill>
                <a:latin typeface="Archivo" pitchFamily="34" charset="0"/>
                <a:ea typeface="Archivo" pitchFamily="34" charset="-122"/>
                <a:cs typeface="Archivo" pitchFamily="34" charset="-120"/>
              </a:rPr>
              <a:t>Descriptions reflect a sighted team’s view of mostly Western art.</a:t>
            </a:r>
            <a:endParaRPr lang="en-US" sz="1600" dirty="0"/>
          </a:p>
          <a:p>
            <a:pPr algn="l" marL="170942" indent="-170942">
              <a:lnSpc>
                <a:spcPts val="2240"/>
              </a:lnSpc>
              <a:buSzPct val="100000"/>
              <a:buChar char="•"/>
            </a:pPr>
            <a:r>
              <a:rPr lang="en-US" sz="1600" dirty="0">
                <a:solidFill>
                  <a:srgbClr val="3A3631"/>
                </a:solidFill>
                <a:latin typeface="Archivo" pitchFamily="34" charset="0"/>
                <a:ea typeface="Archivo" pitchFamily="34" charset="-122"/>
                <a:cs typeface="Archivo" pitchFamily="34" charset="-120"/>
              </a:rPr>
              <a:t>Excludes deafblind users, non-English speakers, and anyone who can’t use a fingertip.</a:t>
            </a:r>
            <a:endParaRPr lang="en-US" sz="1600" dirty="0"/>
          </a:p>
        </p:txBody>
      </p:sp>
      <p:sp>
        <p:nvSpPr>
          <p:cNvPr id="8" name="Text 6"/>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55C"/>
                </a:solidFill>
                <a:latin typeface="IBM Plex Mono" pitchFamily="49" charset="0"/>
                <a:ea typeface="IBM Plex Mono" pitchFamily="49" charset="-122"/>
                <a:cs typeface="IBM Plex Mono" pitchFamily="49" charset="-120"/>
              </a:rPr>
              <a:t>Open Canvas · DS+X 2026 Art Hack</a:t>
            </a:r>
            <a:endParaRPr lang="en-US" sz="1200" dirty="0"/>
          </a:p>
        </p:txBody>
      </p:sp>
      <p:sp>
        <p:nvSpPr>
          <p:cNvPr id="9" name="Text 7"/>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55C"/>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E7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360F"/>
                </a:solidFill>
                <a:latin typeface="IBM Plex Mono" pitchFamily="49" charset="0"/>
                <a:ea typeface="IBM Plex Mono" pitchFamily="49" charset="-122"/>
                <a:cs typeface="IBM Plex Mono" pitchFamily="49" charset="-120"/>
              </a:rPr>
              <a:t>ETHICS · HARMS &amp; MITIGATION</a:t>
            </a:r>
            <a:endParaRPr lang="en-US" sz="1200" dirty="0"/>
          </a:p>
        </p:txBody>
      </p:sp>
      <p:sp>
        <p:nvSpPr>
          <p:cNvPr id="3" name="Text 1"/>
          <p:cNvSpPr/>
          <p:nvPr>
            <p:ph type="title"/>
          </p:nvPr>
        </p:nvSpPr>
        <p:spPr>
          <a:xfrm>
            <a:off x="812800" y="12763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110"/>
                </a:solidFill>
                <a:latin typeface="Archivo" pitchFamily="34" charset="0"/>
                <a:ea typeface="Archivo" pitchFamily="34" charset="-122"/>
                <a:cs typeface="Archivo" pitchFamily="34" charset="-120"/>
              </a:rPr>
              <a:t>What could go wrong, and what we did</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44700"/>
          <a:ext cx="10553700" cy="3293566"/>
        </p:xfrm>
        <a:graphic>
          <a:graphicData uri="http://schemas.openxmlformats.org/drawingml/2006/table">
            <a:tbl>
              <a:tblPr/>
              <a:tblGrid>
                <a:gridCol w="4221480"/>
                <a:gridCol w="6332220"/>
              </a:tblGrid>
              <a:tr h="439241">
                <a:tc>
                  <a:txBody>
                    <a:bodyPr/>
                    <a:lstStyle/>
                    <a:p>
                      <a:pPr indent="0" marL="0">
                        <a:lnSpc>
                          <a:spcPts val="2240"/>
                        </a:lnSpc>
                        <a:buNone/>
                      </a:pPr>
                      <a:r>
                        <a:rPr lang="en-US" sz="1600" b="1" dirty="0">
                          <a:solidFill>
                            <a:srgbClr val="121110"/>
                          </a:solidFill>
                          <a:latin typeface="Archivo" pitchFamily="34" charset="0"/>
                          <a:ea typeface="Archivo" pitchFamily="34" charset="-122"/>
                          <a:cs typeface="Archivo" pitchFamily="34" charset="-120"/>
                        </a:rPr>
                        <a:t>Possible harm</a:t>
                      </a:r>
                      <a:endParaRPr lang="en-US" sz="1600" dirty="0">
                        <a:latin typeface="Archivo" charset="0"/>
                        <a:ea typeface="Archivo" charset="0"/>
                        <a:cs typeface="Archivo" charset="0"/>
                      </a:endParaRPr>
                    </a:p>
                  </a:txBody>
                  <a:tcPr marL="71120" marR="71120" marT="71120" marB="71120" anchor="t">
                    <a:lnL w="12700" cap="flat" cmpd="sng" algn="ctr">
                      <a:solidFill>
                        <a:srgbClr val="BEB9AD"/>
                      </a:solidFill>
                      <a:prstDash val="solid"/>
                      <a:round/>
                      <a:headEnd type="none" w="med" len="med"/>
                      <a:tailEnd type="none" w="med" len="med"/>
                    </a:lnL>
                    <a:lnR w="12700" cap="flat" cmpd="sng" algn="ctr">
                      <a:solidFill>
                        <a:srgbClr val="B1ABA0"/>
                      </a:solidFill>
                      <a:prstDash val="solid"/>
                      <a:round/>
                      <a:headEnd type="none" w="med" len="med"/>
                      <a:tailEnd type="none" w="med" len="med"/>
                    </a:lnR>
                    <a:lnT w="12700" cap="flat" cmpd="sng" algn="ctr">
                      <a:solidFill>
                        <a:srgbClr val="BEB9AD"/>
                      </a:solidFill>
                      <a:prstDash val="solid"/>
                      <a:round/>
                      <a:headEnd type="none" w="med" len="med"/>
                      <a:tailEnd type="none" w="med" len="med"/>
                    </a:lnT>
                    <a:lnB w="12700" cap="flat" cmpd="sng" algn="ctr">
                      <a:solidFill>
                        <a:srgbClr val="B1ABA0"/>
                      </a:solidFill>
                      <a:prstDash val="solid"/>
                      <a:round/>
                      <a:headEnd type="none" w="med" len="med"/>
                      <a:tailEnd type="none" w="med" len="med"/>
                    </a:lnB>
                    <a:solidFill>
                      <a:srgbClr val="DDD6C8"/>
                    </a:solidFill>
                  </a:tcPr>
                </a:tc>
                <a:tc>
                  <a:txBody>
                    <a:bodyPr/>
                    <a:lstStyle/>
                    <a:p>
                      <a:pPr indent="0" marL="0">
                        <a:lnSpc>
                          <a:spcPts val="2240"/>
                        </a:lnSpc>
                        <a:buNone/>
                      </a:pPr>
                      <a:r>
                        <a:rPr lang="en-US" sz="1600" b="1" dirty="0">
                          <a:solidFill>
                            <a:srgbClr val="121110"/>
                          </a:solidFill>
                          <a:latin typeface="Archivo" pitchFamily="34" charset="0"/>
                          <a:ea typeface="Archivo" pitchFamily="34" charset="-122"/>
                          <a:cs typeface="Archivo" pitchFamily="34" charset="-120"/>
                        </a:rPr>
                        <a:t>What we did</a:t>
                      </a:r>
                      <a:endParaRPr lang="en-US" sz="1600" dirty="0">
                        <a:latin typeface="Archivo" charset="0"/>
                        <a:ea typeface="Archivo" charset="0"/>
                        <a:cs typeface="Archivo" charset="0"/>
                      </a:endParaRPr>
                    </a:p>
                  </a:txBody>
                  <a:tcPr marL="71120" marR="71120" marT="71120" marB="71120" anchor="t">
                    <a:lnL w="12700" cap="flat" cmpd="sng" algn="ctr">
                      <a:solidFill>
                        <a:srgbClr val="B1ABA0"/>
                      </a:solidFill>
                      <a:prstDash val="solid"/>
                      <a:round/>
                      <a:headEnd type="none" w="med" len="med"/>
                      <a:tailEnd type="none" w="med" len="med"/>
                    </a:lnL>
                    <a:lnR w="12700" cap="flat" cmpd="sng" algn="ctr">
                      <a:solidFill>
                        <a:srgbClr val="B1ABA0"/>
                      </a:solidFill>
                      <a:prstDash val="solid"/>
                      <a:round/>
                      <a:headEnd type="none" w="med" len="med"/>
                      <a:tailEnd type="none" w="med" len="med"/>
                    </a:lnR>
                    <a:lnT w="12700" cap="flat" cmpd="sng" algn="ctr">
                      <a:solidFill>
                        <a:srgbClr val="BEB9AD"/>
                      </a:solidFill>
                      <a:prstDash val="solid"/>
                      <a:round/>
                      <a:headEnd type="none" w="med" len="med"/>
                      <a:tailEnd type="none" w="med" len="med"/>
                    </a:lnT>
                    <a:lnB w="12700" cap="flat" cmpd="sng" algn="ctr">
                      <a:solidFill>
                        <a:srgbClr val="B1ABA0"/>
                      </a:solidFill>
                      <a:prstDash val="solid"/>
                      <a:round/>
                      <a:headEnd type="none" w="med" len="med"/>
                      <a:tailEnd type="none" w="med" len="med"/>
                    </a:lnB>
                    <a:solidFill>
                      <a:srgbClr val="DDD6C8"/>
                    </a:solidFill>
                  </a:tcPr>
                </a:tc>
              </a:tr>
              <a:tr h="713581">
                <a:tc>
                  <a:txBody>
                    <a:bodyPr/>
                    <a:lstStyle/>
                    <a:p>
                      <a:pPr indent="0" marL="0">
                        <a:lnSpc>
                          <a:spcPts val="2240"/>
                        </a:lnSpc>
                        <a:buNone/>
                      </a:pPr>
                      <a:r>
                        <a:rPr lang="en-US" sz="1600" dirty="0">
                          <a:solidFill>
                            <a:srgbClr val="3A3631"/>
                          </a:solidFill>
                          <a:latin typeface="Archivo" pitchFamily="34" charset="0"/>
                          <a:ea typeface="Archivo" pitchFamily="34" charset="-122"/>
                          <a:cs typeface="Archivo" pitchFamily="34" charset="-120"/>
                        </a:rPr>
                        <a:t>A wrong description misleads someone who can’t check it</a:t>
                      </a:r>
                      <a:endParaRPr lang="en-US" sz="1600" dirty="0">
                        <a:latin typeface="Archivo" charset="0"/>
                        <a:ea typeface="Archivo" charset="0"/>
                        <a:cs typeface="Archivo" charset="0"/>
                      </a:endParaRPr>
                    </a:p>
                  </a:txBody>
                  <a:tcPr marL="71120" marR="71120" marT="71120" marB="71120" anchor="t">
                    <a:lnL w="12700" cap="flat" cmpd="sng" algn="ctr">
                      <a:solidFill>
                        <a:srgbClr val="BEB9AD"/>
                      </a:solidFill>
                      <a:prstDash val="solid"/>
                      <a:round/>
                      <a:headEnd type="none" w="med" len="med"/>
                      <a:tailEnd type="none" w="med" len="med"/>
                    </a:lnL>
                    <a:lnR w="12700" cap="flat" cmpd="sng" algn="ctr">
                      <a:solidFill>
                        <a:srgbClr val="BEB9AD"/>
                      </a:solidFill>
                      <a:prstDash val="solid"/>
                      <a:round/>
                      <a:headEnd type="none" w="med" len="med"/>
                      <a:tailEnd type="none" w="med" len="med"/>
                    </a:lnR>
                    <a:lnT w="12700" cap="flat" cmpd="sng" algn="ctr">
                      <a:solidFill>
                        <a:srgbClr val="B1ABA0"/>
                      </a:solidFill>
                      <a:prstDash val="solid"/>
                      <a:round/>
                      <a:headEnd type="none" w="med" len="med"/>
                      <a:tailEnd type="none" w="med" len="med"/>
                    </a:lnT>
                    <a:lnB w="12700" cap="flat" cmpd="sng" algn="ctr">
                      <a:solidFill>
                        <a:srgbClr val="BEB9AD"/>
                      </a:solidFill>
                      <a:prstDash val="solid"/>
                      <a:round/>
                      <a:headEnd type="none" w="med" len="med"/>
                      <a:tailEnd type="none" w="med" len="med"/>
                    </a:lnB>
                  </a:tcPr>
                </a:tc>
                <a:tc>
                  <a:txBody>
                    <a:bodyPr/>
                    <a:lstStyle/>
                    <a:p>
                      <a:pPr indent="0" marL="0">
                        <a:lnSpc>
                          <a:spcPts val="2240"/>
                        </a:lnSpc>
                        <a:buNone/>
                      </a:pPr>
                      <a:r>
                        <a:rPr lang="en-US" sz="1600" dirty="0">
                          <a:solidFill>
                            <a:srgbClr val="3A3631"/>
                          </a:solidFill>
                          <a:latin typeface="Archivo" pitchFamily="34" charset="0"/>
                          <a:ea typeface="Archivo" pitchFamily="34" charset="-122"/>
                          <a:cs typeface="Archivo" pitchFamily="34" charset="-120"/>
                        </a:rPr>
                        <a:t>Every line is written and reviewed by us; no live AI answers in the demo</a:t>
                      </a:r>
                      <a:endParaRPr lang="en-US" sz="1600" dirty="0">
                        <a:latin typeface="Archivo" charset="0"/>
                        <a:ea typeface="Archivo" charset="0"/>
                        <a:cs typeface="Archivo" charset="0"/>
                      </a:endParaRPr>
                    </a:p>
                  </a:txBody>
                  <a:tcPr marL="71120" marR="71120" marT="71120" marB="71120" anchor="t">
                    <a:lnL w="12700" cap="flat" cmpd="sng" algn="ctr">
                      <a:solidFill>
                        <a:srgbClr val="BEB9AD"/>
                      </a:solidFill>
                      <a:prstDash val="solid"/>
                      <a:round/>
                      <a:headEnd type="none" w="med" len="med"/>
                      <a:tailEnd type="none" w="med" len="med"/>
                    </a:lnL>
                    <a:lnR w="12700" cap="flat" cmpd="sng" algn="ctr">
                      <a:solidFill>
                        <a:srgbClr val="BEB9AD"/>
                      </a:solidFill>
                      <a:prstDash val="solid"/>
                      <a:round/>
                      <a:headEnd type="none" w="med" len="med"/>
                      <a:tailEnd type="none" w="med" len="med"/>
                    </a:lnR>
                    <a:lnT w="12700" cap="flat" cmpd="sng" algn="ctr">
                      <a:solidFill>
                        <a:srgbClr val="B1ABA0"/>
                      </a:solidFill>
                      <a:prstDash val="solid"/>
                      <a:round/>
                      <a:headEnd type="none" w="med" len="med"/>
                      <a:tailEnd type="none" w="med" len="med"/>
                    </a:lnT>
                    <a:lnB w="12700" cap="flat" cmpd="sng" algn="ctr">
                      <a:solidFill>
                        <a:srgbClr val="BEB9AD"/>
                      </a:solidFill>
                      <a:prstDash val="solid"/>
                      <a:round/>
                      <a:headEnd type="none" w="med" len="med"/>
                      <a:tailEnd type="none" w="med" len="med"/>
                    </a:lnB>
                  </a:tcPr>
                </a:tc>
              </a:tr>
              <a:tr h="713581">
                <a:tc>
                  <a:txBody>
                    <a:bodyPr/>
                    <a:lstStyle/>
                    <a:p>
                      <a:pPr indent="0" marL="0">
                        <a:lnSpc>
                          <a:spcPts val="2240"/>
                        </a:lnSpc>
                        <a:buNone/>
                      </a:pPr>
                      <a:r>
                        <a:rPr lang="en-US" sz="1600" dirty="0">
                          <a:solidFill>
                            <a:srgbClr val="3A3631"/>
                          </a:solidFill>
                          <a:latin typeface="Archivo" pitchFamily="34" charset="0"/>
                          <a:ea typeface="Archivo" pitchFamily="34" charset="-122"/>
                          <a:cs typeface="Archivo" pitchFamily="34" charset="-120"/>
                        </a:rPr>
                        <a:t>Sensory overload or being startled</a:t>
                      </a:r>
                      <a:endParaRPr lang="en-US" sz="1600" dirty="0">
                        <a:latin typeface="Archivo" charset="0"/>
                        <a:ea typeface="Archivo" charset="0"/>
                        <a:cs typeface="Archivo" charset="0"/>
                      </a:endParaRPr>
                    </a:p>
                  </a:txBody>
                  <a:tcPr marL="71120" marR="71120" marT="71120" marB="71120" anchor="t">
                    <a:lnL w="12700" cap="flat" cmpd="sng" algn="ctr">
                      <a:solidFill>
                        <a:srgbClr val="BEB9AD"/>
                      </a:solidFill>
                      <a:prstDash val="solid"/>
                      <a:round/>
                      <a:headEnd type="none" w="med" len="med"/>
                      <a:tailEnd type="none" w="med" len="med"/>
                    </a:lnL>
                    <a:lnR w="12700" cap="flat" cmpd="sng" algn="ctr">
                      <a:solidFill>
                        <a:srgbClr val="BEB9AD"/>
                      </a:solidFill>
                      <a:prstDash val="solid"/>
                      <a:round/>
                      <a:headEnd type="none" w="med" len="med"/>
                      <a:tailEnd type="none" w="med" len="med"/>
                    </a:lnR>
                    <a:lnT w="12700" cap="flat" cmpd="sng" algn="ctr">
                      <a:solidFill>
                        <a:srgbClr val="BEB9AD"/>
                      </a:solidFill>
                      <a:prstDash val="solid"/>
                      <a:round/>
                      <a:headEnd type="none" w="med" len="med"/>
                      <a:tailEnd type="none" w="med" len="med"/>
                    </a:lnT>
                    <a:lnB w="12700" cap="flat" cmpd="sng" algn="ctr">
                      <a:solidFill>
                        <a:srgbClr val="BEB9AD"/>
                      </a:solidFill>
                      <a:prstDash val="solid"/>
                      <a:round/>
                      <a:headEnd type="none" w="med" len="med"/>
                      <a:tailEnd type="none" w="med" len="med"/>
                    </a:lnB>
                  </a:tcPr>
                </a:tc>
                <a:tc>
                  <a:txBody>
                    <a:bodyPr/>
                    <a:lstStyle/>
                    <a:p>
                      <a:pPr indent="0" marL="0">
                        <a:lnSpc>
                          <a:spcPts val="2240"/>
                        </a:lnSpc>
                        <a:buNone/>
                      </a:pPr>
                      <a:r>
                        <a:rPr lang="en-US" sz="1600" dirty="0">
                          <a:solidFill>
                            <a:srgbClr val="3A3631"/>
                          </a:solidFill>
                          <a:latin typeface="Archivo" pitchFamily="34" charset="0"/>
                          <a:ea typeface="Archivo" pitchFamily="34" charset="-122"/>
                          <a:cs typeface="Archivo" pitchFamily="34" charset="-120"/>
                        </a:rPr>
                        <a:t>Quiet music bed that ducks under speech; descriptions only after a 2.5 s rest</a:t>
                      </a:r>
                      <a:endParaRPr lang="en-US" sz="1600" dirty="0">
                        <a:latin typeface="Archivo" charset="0"/>
                        <a:ea typeface="Archivo" charset="0"/>
                        <a:cs typeface="Archivo" charset="0"/>
                      </a:endParaRPr>
                    </a:p>
                  </a:txBody>
                  <a:tcPr marL="71120" marR="71120" marT="71120" marB="71120" anchor="t">
                    <a:lnL w="12700" cap="flat" cmpd="sng" algn="ctr">
                      <a:solidFill>
                        <a:srgbClr val="BEB9AD"/>
                      </a:solidFill>
                      <a:prstDash val="solid"/>
                      <a:round/>
                      <a:headEnd type="none" w="med" len="med"/>
                      <a:tailEnd type="none" w="med" len="med"/>
                    </a:lnL>
                    <a:lnR w="12700" cap="flat" cmpd="sng" algn="ctr">
                      <a:solidFill>
                        <a:srgbClr val="BEB9AD"/>
                      </a:solidFill>
                      <a:prstDash val="solid"/>
                      <a:round/>
                      <a:headEnd type="none" w="med" len="med"/>
                      <a:tailEnd type="none" w="med" len="med"/>
                    </a:lnR>
                    <a:lnT w="12700" cap="flat" cmpd="sng" algn="ctr">
                      <a:solidFill>
                        <a:srgbClr val="BEB9AD"/>
                      </a:solidFill>
                      <a:prstDash val="solid"/>
                      <a:round/>
                      <a:headEnd type="none" w="med" len="med"/>
                      <a:tailEnd type="none" w="med" len="med"/>
                    </a:lnT>
                    <a:lnB w="12700" cap="flat" cmpd="sng" algn="ctr">
                      <a:solidFill>
                        <a:srgbClr val="BEB9AD"/>
                      </a:solidFill>
                      <a:prstDash val="solid"/>
                      <a:round/>
                      <a:headEnd type="none" w="med" len="med"/>
                      <a:tailEnd type="none" w="med" len="med"/>
                    </a:lnB>
                  </a:tcPr>
                </a:tc>
              </a:tr>
              <a:tr h="713581">
                <a:tc>
                  <a:txBody>
                    <a:bodyPr/>
                    <a:lstStyle/>
                    <a:p>
                      <a:pPr indent="0" marL="0">
                        <a:lnSpc>
                          <a:spcPts val="2240"/>
                        </a:lnSpc>
                        <a:buNone/>
                      </a:pPr>
                      <a:r>
                        <a:rPr lang="en-US" sz="1600" dirty="0">
                          <a:solidFill>
                            <a:srgbClr val="3A3631"/>
                          </a:solidFill>
                          <a:latin typeface="Archivo" pitchFamily="34" charset="0"/>
                          <a:ea typeface="Archivo" pitchFamily="34" charset="-122"/>
                          <a:cs typeface="Archivo" pitchFamily="34" charset="-120"/>
                        </a:rPr>
                        <a:t>Motor chatter on the fingertip</a:t>
                      </a:r>
                      <a:endParaRPr lang="en-US" sz="1600" dirty="0">
                        <a:latin typeface="Archivo" charset="0"/>
                        <a:ea typeface="Archivo" charset="0"/>
                        <a:cs typeface="Archivo" charset="0"/>
                      </a:endParaRPr>
                    </a:p>
                  </a:txBody>
                  <a:tcPr marL="71120" marR="71120" marT="71120" marB="71120" anchor="t">
                    <a:lnL w="12700" cap="flat" cmpd="sng" algn="ctr">
                      <a:solidFill>
                        <a:srgbClr val="BEB9AD"/>
                      </a:solidFill>
                      <a:prstDash val="solid"/>
                      <a:round/>
                      <a:headEnd type="none" w="med" len="med"/>
                      <a:tailEnd type="none" w="med" len="med"/>
                    </a:lnL>
                    <a:lnR w="12700" cap="flat" cmpd="sng" algn="ctr">
                      <a:solidFill>
                        <a:srgbClr val="BEB9AD"/>
                      </a:solidFill>
                      <a:prstDash val="solid"/>
                      <a:round/>
                      <a:headEnd type="none" w="med" len="med"/>
                      <a:tailEnd type="none" w="med" len="med"/>
                    </a:lnR>
                    <a:lnT w="12700" cap="flat" cmpd="sng" algn="ctr">
                      <a:solidFill>
                        <a:srgbClr val="BEB9AD"/>
                      </a:solidFill>
                      <a:prstDash val="solid"/>
                      <a:round/>
                      <a:headEnd type="none" w="med" len="med"/>
                      <a:tailEnd type="none" w="med" len="med"/>
                    </a:lnT>
                    <a:lnB w="12700" cap="flat" cmpd="sng" algn="ctr">
                      <a:solidFill>
                        <a:srgbClr val="BEB9AD"/>
                      </a:solidFill>
                      <a:prstDash val="solid"/>
                      <a:round/>
                      <a:headEnd type="none" w="med" len="med"/>
                      <a:tailEnd type="none" w="med" len="med"/>
                    </a:lnB>
                  </a:tcPr>
                </a:tc>
                <a:tc>
                  <a:txBody>
                    <a:bodyPr/>
                    <a:lstStyle/>
                    <a:p>
                      <a:pPr indent="0" marL="0">
                        <a:lnSpc>
                          <a:spcPts val="2240"/>
                        </a:lnSpc>
                        <a:buNone/>
                      </a:pPr>
                      <a:r>
                        <a:rPr lang="en-US" sz="1600" dirty="0">
                          <a:solidFill>
                            <a:srgbClr val="3A3631"/>
                          </a:solidFill>
                          <a:latin typeface="Archivo" pitchFamily="34" charset="0"/>
                          <a:ea typeface="Archivo" pitchFamily="34" charset="-122"/>
                          <a:cs typeface="Archivo" pitchFamily="34" charset="-120"/>
                        </a:rPr>
                        <a:t>Hysteresis; a low-voltage coin motor behind a transistor and flyback diode</a:t>
                      </a:r>
                      <a:endParaRPr lang="en-US" sz="1600" dirty="0">
                        <a:latin typeface="Archivo" charset="0"/>
                        <a:ea typeface="Archivo" charset="0"/>
                        <a:cs typeface="Archivo" charset="0"/>
                      </a:endParaRPr>
                    </a:p>
                  </a:txBody>
                  <a:tcPr marL="71120" marR="71120" marT="71120" marB="71120" anchor="t">
                    <a:lnL w="12700" cap="flat" cmpd="sng" algn="ctr">
                      <a:solidFill>
                        <a:srgbClr val="BEB9AD"/>
                      </a:solidFill>
                      <a:prstDash val="solid"/>
                      <a:round/>
                      <a:headEnd type="none" w="med" len="med"/>
                      <a:tailEnd type="none" w="med" len="med"/>
                    </a:lnL>
                    <a:lnR w="12700" cap="flat" cmpd="sng" algn="ctr">
                      <a:solidFill>
                        <a:srgbClr val="BEB9AD"/>
                      </a:solidFill>
                      <a:prstDash val="solid"/>
                      <a:round/>
                      <a:headEnd type="none" w="med" len="med"/>
                      <a:tailEnd type="none" w="med" len="med"/>
                    </a:lnR>
                    <a:lnT w="12700" cap="flat" cmpd="sng" algn="ctr">
                      <a:solidFill>
                        <a:srgbClr val="BEB9AD"/>
                      </a:solidFill>
                      <a:prstDash val="solid"/>
                      <a:round/>
                      <a:headEnd type="none" w="med" len="med"/>
                      <a:tailEnd type="none" w="med" len="med"/>
                    </a:lnT>
                    <a:lnB w="12700" cap="flat" cmpd="sng" algn="ctr">
                      <a:solidFill>
                        <a:srgbClr val="BEB9AD"/>
                      </a:solidFill>
                      <a:prstDash val="solid"/>
                      <a:round/>
                      <a:headEnd type="none" w="med" len="med"/>
                      <a:tailEnd type="none" w="med" len="med"/>
                    </a:lnB>
                  </a:tcPr>
                </a:tc>
              </a:tr>
              <a:tr h="713581">
                <a:tc>
                  <a:txBody>
                    <a:bodyPr/>
                    <a:lstStyle/>
                    <a:p>
                      <a:pPr indent="0" marL="0">
                        <a:lnSpc>
                          <a:spcPts val="2240"/>
                        </a:lnSpc>
                        <a:buNone/>
                      </a:pPr>
                      <a:r>
                        <a:rPr lang="en-US" sz="1600" dirty="0">
                          <a:solidFill>
                            <a:srgbClr val="3A3631"/>
                          </a:solidFill>
                          <a:latin typeface="Archivo" pitchFamily="34" charset="0"/>
                          <a:ea typeface="Archivo" pitchFamily="34" charset="-122"/>
                          <a:cs typeface="Archivo" pitchFamily="34" charset="-120"/>
                        </a:rPr>
                        <a:t>Silent failure when tracking is lost</a:t>
                      </a:r>
                      <a:endParaRPr lang="en-US" sz="1600" dirty="0">
                        <a:latin typeface="Archivo" charset="0"/>
                        <a:ea typeface="Archivo" charset="0"/>
                        <a:cs typeface="Archivo" charset="0"/>
                      </a:endParaRPr>
                    </a:p>
                  </a:txBody>
                  <a:tcPr marL="71120" marR="71120" marT="71120" marB="71120" anchor="t">
                    <a:lnL w="12700" cap="flat" cmpd="sng" algn="ctr">
                      <a:solidFill>
                        <a:srgbClr val="BEB9AD"/>
                      </a:solidFill>
                      <a:prstDash val="solid"/>
                      <a:round/>
                      <a:headEnd type="none" w="med" len="med"/>
                      <a:tailEnd type="none" w="med" len="med"/>
                    </a:lnL>
                    <a:lnR w="12700" cap="flat" cmpd="sng" algn="ctr">
                      <a:solidFill>
                        <a:srgbClr val="BEB9AD"/>
                      </a:solidFill>
                      <a:prstDash val="solid"/>
                      <a:round/>
                      <a:headEnd type="none" w="med" len="med"/>
                      <a:tailEnd type="none" w="med" len="med"/>
                    </a:lnR>
                    <a:lnT w="12700" cap="flat" cmpd="sng" algn="ctr">
                      <a:solidFill>
                        <a:srgbClr val="BEB9AD"/>
                      </a:solidFill>
                      <a:prstDash val="solid"/>
                      <a:round/>
                      <a:headEnd type="none" w="med" len="med"/>
                      <a:tailEnd type="none" w="med" len="med"/>
                    </a:lnT>
                    <a:lnB w="12700" cap="flat" cmpd="sng" algn="ctr">
                      <a:solidFill>
                        <a:srgbClr val="BEB9AD"/>
                      </a:solidFill>
                      <a:prstDash val="solid"/>
                      <a:round/>
                      <a:headEnd type="none" w="med" len="med"/>
                      <a:tailEnd type="none" w="med" len="med"/>
                    </a:lnB>
                  </a:tcPr>
                </a:tc>
                <a:tc>
                  <a:txBody>
                    <a:bodyPr/>
                    <a:lstStyle/>
                    <a:p>
                      <a:pPr indent="0" marL="0">
                        <a:lnSpc>
                          <a:spcPts val="2240"/>
                        </a:lnSpc>
                        <a:buNone/>
                      </a:pPr>
                      <a:r>
                        <a:rPr lang="en-US" sz="1600" dirty="0">
                          <a:solidFill>
                            <a:srgbClr val="3A3631"/>
                          </a:solidFill>
                          <a:latin typeface="Archivo" pitchFamily="34" charset="0"/>
                          <a:ea typeface="Archivo" pitchFamily="34" charset="-122"/>
                          <a:cs typeface="Archivo" pitchFamily="34" charset="-120"/>
                        </a:rPr>
                        <a:t>Last good mapping is reused; when the finger is lost, the motor turns off</a:t>
                      </a:r>
                      <a:endParaRPr lang="en-US" sz="1600" dirty="0">
                        <a:latin typeface="Archivo" charset="0"/>
                        <a:ea typeface="Archivo" charset="0"/>
                        <a:cs typeface="Archivo" charset="0"/>
                      </a:endParaRPr>
                    </a:p>
                  </a:txBody>
                  <a:tcPr marL="71120" marR="71120" marT="71120" marB="71120" anchor="t">
                    <a:lnL w="12700" cap="flat" cmpd="sng" algn="ctr">
                      <a:solidFill>
                        <a:srgbClr val="BEB9AD"/>
                      </a:solidFill>
                      <a:prstDash val="solid"/>
                      <a:round/>
                      <a:headEnd type="none" w="med" len="med"/>
                      <a:tailEnd type="none" w="med" len="med"/>
                    </a:lnL>
                    <a:lnR w="12700" cap="flat" cmpd="sng" algn="ctr">
                      <a:solidFill>
                        <a:srgbClr val="BEB9AD"/>
                      </a:solidFill>
                      <a:prstDash val="solid"/>
                      <a:round/>
                      <a:headEnd type="none" w="med" len="med"/>
                      <a:tailEnd type="none" w="med" len="med"/>
                    </a:lnR>
                    <a:lnT w="12700" cap="flat" cmpd="sng" algn="ctr">
                      <a:solidFill>
                        <a:srgbClr val="BEB9AD"/>
                      </a:solidFill>
                      <a:prstDash val="solid"/>
                      <a:round/>
                      <a:headEnd type="none" w="med" len="med"/>
                      <a:tailEnd type="none" w="med" len="med"/>
                    </a:lnT>
                    <a:lnB w="12700" cap="flat" cmpd="sng" algn="ctr">
                      <a:solidFill>
                        <a:srgbClr val="BEB9AD"/>
                      </a:solidFill>
                      <a:prstDash val="solid"/>
                      <a:round/>
                      <a:headEnd type="none" w="med" len="med"/>
                      <a:tailEnd type="none" w="med" len="med"/>
                    </a:lnB>
                  </a:tcPr>
                </a:tc>
              </a:tr>
            </a:tbl>
          </a:graphicData>
        </a:graphic>
      </p:graphicFrame>
      <p:sp>
        <p:nvSpPr>
          <p:cNvPr id="5" name="Text 2"/>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55C"/>
                </a:solidFill>
                <a:latin typeface="IBM Plex Mono" pitchFamily="49" charset="0"/>
                <a:ea typeface="IBM Plex Mono" pitchFamily="49" charset="-122"/>
                <a:cs typeface="IBM Plex Mono" pitchFamily="49" charset="-120"/>
              </a:rPr>
              <a:t>Open Canvas · DS+X 2026 Art Hack</a:t>
            </a:r>
            <a:endParaRPr lang="en-US" sz="1200" dirty="0"/>
          </a:p>
        </p:txBody>
      </p:sp>
      <p:sp>
        <p:nvSpPr>
          <p:cNvPr id="6" name="Text 3"/>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55C"/>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1110"/>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4B1F"/>
                </a:solidFill>
                <a:latin typeface="IBM Plex Mono" pitchFamily="49" charset="0"/>
                <a:ea typeface="IBM Plex Mono" pitchFamily="49" charset="-122"/>
                <a:cs typeface="IBM Plex Mono" pitchFamily="49" charset="-120"/>
              </a:rPr>
              <a:t>ETHICS · TRANSPARENCY &amp; ACCOUNTABILITY</a:t>
            </a:r>
            <a:endParaRPr lang="en-US" sz="1200" dirty="0"/>
          </a:p>
        </p:txBody>
      </p:sp>
      <p:sp>
        <p:nvSpPr>
          <p:cNvPr id="3" name="Text 1"/>
          <p:cNvSpPr/>
          <p:nvPr>
            <p:ph type="title"/>
          </p:nvPr>
        </p:nvSpPr>
        <p:spPr>
          <a:xfrm>
            <a:off x="812800" y="12763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E7D8"/>
                </a:solidFill>
                <a:latin typeface="Archivo" pitchFamily="34" charset="0"/>
                <a:ea typeface="Archivo" pitchFamily="34" charset="-122"/>
                <a:cs typeface="Archivo" pitchFamily="34" charset="-120"/>
              </a:rPr>
              <a:t>Clear about what it is and isn’t</a:t>
            </a:r>
            <a:endParaRPr lang="en-US" sz="3600" dirty="0"/>
          </a:p>
        </p:txBody>
      </p:sp>
      <p:sp>
        <p:nvSpPr>
          <p:cNvPr id="4" name="Text 2"/>
          <p:cNvSpPr/>
          <p:nvPr/>
        </p:nvSpPr>
        <p:spPr>
          <a:xfrm>
            <a:off x="812800" y="2032000"/>
            <a:ext cx="406400"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4B1F"/>
                </a:solidFill>
                <a:latin typeface="IBM Plex Mono" pitchFamily="49" charset="0"/>
                <a:ea typeface="IBM Plex Mono" pitchFamily="49" charset="-122"/>
                <a:cs typeface="IBM Plex Mono" pitchFamily="49" charset="-120"/>
              </a:rPr>
              <a:t>01</a:t>
            </a:r>
            <a:endParaRPr lang="en-US" sz="1600" dirty="0"/>
          </a:p>
        </p:txBody>
      </p:sp>
      <p:sp>
        <p:nvSpPr>
          <p:cNvPr id="5" name="Text 3"/>
          <p:cNvSpPr/>
          <p:nvPr/>
        </p:nvSpPr>
        <p:spPr>
          <a:xfrm>
            <a:off x="1320800" y="2032000"/>
            <a:ext cx="1036015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E7D8"/>
                </a:solidFill>
                <a:latin typeface="Archivo" pitchFamily="34" charset="0"/>
                <a:ea typeface="Archivo" pitchFamily="34" charset="-122"/>
                <a:cs typeface="Archivo" pitchFamily="34" charset="-120"/>
              </a:rPr>
              <a:t>The spoken overview names the painting and explains how to explore before anything else plays.</a:t>
            </a:r>
            <a:endParaRPr lang="en-US" sz="1600" dirty="0"/>
          </a:p>
        </p:txBody>
      </p:sp>
      <p:sp>
        <p:nvSpPr>
          <p:cNvPr id="6" name="Text 4"/>
          <p:cNvSpPr/>
          <p:nvPr/>
        </p:nvSpPr>
        <p:spPr>
          <a:xfrm>
            <a:off x="812800" y="2489200"/>
            <a:ext cx="406400"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4B1F"/>
                </a:solidFill>
                <a:latin typeface="IBM Plex Mono" pitchFamily="49" charset="0"/>
                <a:ea typeface="IBM Plex Mono" pitchFamily="49" charset="-122"/>
                <a:cs typeface="IBM Plex Mono" pitchFamily="49" charset="-120"/>
              </a:rPr>
              <a:t>02</a:t>
            </a:r>
            <a:endParaRPr lang="en-US" sz="1600" dirty="0"/>
          </a:p>
        </p:txBody>
      </p:sp>
      <p:sp>
        <p:nvSpPr>
          <p:cNvPr id="7" name="Text 5"/>
          <p:cNvSpPr/>
          <p:nvPr/>
        </p:nvSpPr>
        <p:spPr>
          <a:xfrm>
            <a:off x="1320800" y="2489200"/>
            <a:ext cx="1036015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E7D8"/>
                </a:solidFill>
                <a:latin typeface="Archivo" pitchFamily="34" charset="0"/>
                <a:ea typeface="Archivo" pitchFamily="34" charset="-122"/>
                <a:cs typeface="Archivo" pitchFamily="34" charset="-120"/>
              </a:rPr>
              <a:t>Every description is pre-written by the team, so what users hear can be checked line by line.</a:t>
            </a:r>
            <a:endParaRPr lang="en-US" sz="1600" dirty="0"/>
          </a:p>
        </p:txBody>
      </p:sp>
      <p:sp>
        <p:nvSpPr>
          <p:cNvPr id="8" name="Text 6"/>
          <p:cNvSpPr/>
          <p:nvPr/>
        </p:nvSpPr>
        <p:spPr>
          <a:xfrm>
            <a:off x="812800" y="2946400"/>
            <a:ext cx="406400"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4B1F"/>
                </a:solidFill>
                <a:latin typeface="IBM Plex Mono" pitchFamily="49" charset="0"/>
                <a:ea typeface="IBM Plex Mono" pitchFamily="49" charset="-122"/>
                <a:cs typeface="IBM Plex Mono" pitchFamily="49" charset="-120"/>
              </a:rPr>
              <a:t>03</a:t>
            </a:r>
            <a:endParaRPr lang="en-US" sz="1600" dirty="0"/>
          </a:p>
        </p:txBody>
      </p:sp>
      <p:sp>
        <p:nvSpPr>
          <p:cNvPr id="9" name="Text 7"/>
          <p:cNvSpPr/>
          <p:nvPr/>
        </p:nvSpPr>
        <p:spPr>
          <a:xfrm>
            <a:off x="1320800" y="2946400"/>
            <a:ext cx="1036015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E7D8"/>
                </a:solidFill>
                <a:latin typeface="Archivo" pitchFamily="34" charset="0"/>
                <a:ea typeface="Archivo" pitchFamily="34" charset="-122"/>
                <a:cs typeface="Archivo" pitchFamily="34" charset="-120"/>
              </a:rPr>
              <a:t>The README and CREDITS list data sources, licenses, methods and limits; all code is public on GitHub.</a:t>
            </a:r>
            <a:endParaRPr lang="en-US" sz="1600" dirty="0"/>
          </a:p>
        </p:txBody>
      </p:sp>
      <p:sp>
        <p:nvSpPr>
          <p:cNvPr id="10" name="Text 8"/>
          <p:cNvSpPr/>
          <p:nvPr/>
        </p:nvSpPr>
        <p:spPr>
          <a:xfrm>
            <a:off x="812800" y="3403600"/>
            <a:ext cx="406400" cy="5842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4B1F"/>
                </a:solidFill>
                <a:latin typeface="IBM Plex Mono" pitchFamily="49" charset="0"/>
                <a:ea typeface="IBM Plex Mono" pitchFamily="49" charset="-122"/>
                <a:cs typeface="IBM Plex Mono" pitchFamily="49" charset="-120"/>
              </a:rPr>
              <a:t>04</a:t>
            </a:r>
            <a:endParaRPr lang="en-US" sz="1600" dirty="0"/>
          </a:p>
        </p:txBody>
      </p:sp>
      <p:sp>
        <p:nvSpPr>
          <p:cNvPr id="11" name="Text 9"/>
          <p:cNvSpPr/>
          <p:nvPr/>
        </p:nvSpPr>
        <p:spPr>
          <a:xfrm>
            <a:off x="1320800" y="3403600"/>
            <a:ext cx="10360152"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E7D8"/>
                </a:solidFill>
                <a:latin typeface="Archivo" pitchFamily="34" charset="0"/>
                <a:ea typeface="Archivo" pitchFamily="34" charset="-122"/>
                <a:cs typeface="Archivo" pitchFamily="34" charset="-120"/>
              </a:rPr>
              <a:t>Limits stated up front: not yet tested with blind or low-vision users, tracking accuracy across hands not measured, four paintings only.</a:t>
            </a:r>
            <a:endParaRPr lang="en-US" sz="1600" dirty="0"/>
          </a:p>
        </p:txBody>
      </p:sp>
      <p:sp>
        <p:nvSpPr>
          <p:cNvPr id="12" name="Text 10"/>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87C"/>
                </a:solidFill>
                <a:latin typeface="IBM Plex Mono" pitchFamily="49" charset="0"/>
                <a:ea typeface="IBM Plex Mono" pitchFamily="49" charset="-122"/>
                <a:cs typeface="IBM Plex Mono" pitchFamily="49" charset="-120"/>
              </a:rPr>
              <a:t>Open Canvas · DS+X 2026 Art Hack</a:t>
            </a:r>
            <a:endParaRPr lang="en-US" sz="1200" dirty="0"/>
          </a:p>
        </p:txBody>
      </p:sp>
      <p:sp>
        <p:nvSpPr>
          <p:cNvPr id="13" name="Text 11"/>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887C"/>
                </a:solidFill>
                <a:latin typeface="IBM Plex Mono" pitchFamily="49" charset="0"/>
                <a:ea typeface="IBM Plex Mono" pitchFamily="49" charset="-122"/>
                <a:cs typeface="IBM Plex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E7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360F"/>
                </a:solidFill>
                <a:latin typeface="IBM Plex Mono" pitchFamily="49" charset="0"/>
                <a:ea typeface="IBM Plex Mono" pitchFamily="49" charset="-122"/>
                <a:cs typeface="IBM Plex Mono" pitchFamily="49" charset="-120"/>
              </a:rPr>
              <a:t>NEXT STEPS</a:t>
            </a:r>
            <a:endParaRPr lang="en-US" sz="1200" dirty="0"/>
          </a:p>
        </p:txBody>
      </p:sp>
      <p:sp>
        <p:nvSpPr>
          <p:cNvPr id="3" name="Text 1"/>
          <p:cNvSpPr/>
          <p:nvPr>
            <p:ph type="title"/>
          </p:nvPr>
        </p:nvSpPr>
        <p:spPr>
          <a:xfrm>
            <a:off x="812800" y="12763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110"/>
                </a:solidFill>
                <a:latin typeface="Archivo" pitchFamily="34" charset="0"/>
                <a:ea typeface="Archivo" pitchFamily="34" charset="-122"/>
                <a:cs typeface="Archivo" pitchFamily="34" charset="-120"/>
              </a:rPr>
              <a:t>What’s next, and thank you</a:t>
            </a:r>
            <a:endParaRPr lang="en-US" sz="3600" dirty="0"/>
          </a:p>
        </p:txBody>
      </p:sp>
      <p:sp>
        <p:nvSpPr>
          <p:cNvPr id="4" name="Text 2"/>
          <p:cNvSpPr/>
          <p:nvPr/>
        </p:nvSpPr>
        <p:spPr>
          <a:xfrm>
            <a:off x="895858" y="2032000"/>
            <a:ext cx="5141722" cy="2260600"/>
          </a:xfrm>
          <a:prstGeom prst="rect">
            <a:avLst/>
          </a:prstGeom>
          <a:noFill/>
          <a:ln/>
        </p:spPr>
        <p:txBody>
          <a:bodyPr wrap="square" lIns="0" tIns="0" rIns="0" bIns="0" rtlCol="0" anchor="t">
            <a:normAutofit/>
          </a:bodyPr>
          <a:lstStyle/>
          <a:p>
            <a:pPr algn="l" marL="170942" indent="-170942">
              <a:lnSpc>
                <a:spcPts val="2240"/>
              </a:lnSpc>
              <a:buSzPct val="100000"/>
              <a:buChar char="•"/>
            </a:pPr>
            <a:r>
              <a:rPr lang="en-US" sz="1600" dirty="0">
                <a:solidFill>
                  <a:srgbClr val="3A3631"/>
                </a:solidFill>
                <a:latin typeface="Archivo" pitchFamily="34" charset="0"/>
                <a:ea typeface="Archivo" pitchFamily="34" charset="-122"/>
                <a:cs typeface="Archivo" pitchFamily="34" charset="-120"/>
              </a:rPr>
              <a:t>Test with blind and low-vision users; let their feedback set priorities.</a:t>
            </a:r>
            <a:endParaRPr lang="en-US" sz="1600" dirty="0"/>
          </a:p>
          <a:p>
            <a:pPr algn="l" marL="170942" indent="-170942">
              <a:lnSpc>
                <a:spcPts val="2240"/>
              </a:lnSpc>
              <a:buSzPct val="100000"/>
              <a:buChar char="•"/>
            </a:pPr>
            <a:r>
              <a:rPr lang="en-US" sz="1600" dirty="0">
                <a:solidFill>
                  <a:srgbClr val="3A3631"/>
                </a:solidFill>
                <a:latin typeface="Archivo" pitchFamily="34" charset="0"/>
                <a:ea typeface="Archivo" pitchFamily="34" charset="-122"/>
                <a:cs typeface="Archivo" pitchFamily="34" charset="-120"/>
              </a:rPr>
              <a:t>Measure tracking accuracy across skin tones, lighting and hands.</a:t>
            </a:r>
            <a:endParaRPr lang="en-US" sz="1600" dirty="0"/>
          </a:p>
          <a:p>
            <a:pPr algn="l" marL="170942" indent="-170942">
              <a:lnSpc>
                <a:spcPts val="2240"/>
              </a:lnSpc>
              <a:buSzPct val="100000"/>
              <a:buChar char="•"/>
            </a:pPr>
            <a:r>
              <a:rPr lang="en-US" sz="1600" dirty="0">
                <a:solidFill>
                  <a:srgbClr val="3A3631"/>
                </a:solidFill>
                <a:latin typeface="Archivo" pitchFamily="34" charset="0"/>
                <a:ea typeface="Archivo" pitchFamily="34" charset="-122"/>
                <a:cs typeface="Archivo" pitchFamily="34" charset="-120"/>
              </a:rPr>
              <a:t>Optional live descriptions for new paintings, with human review.</a:t>
            </a:r>
            <a:endParaRPr lang="en-US" sz="1600" dirty="0"/>
          </a:p>
          <a:p>
            <a:pPr algn="l" marL="170942" indent="-170942">
              <a:lnSpc>
                <a:spcPts val="2240"/>
              </a:lnSpc>
              <a:buSzPct val="100000"/>
              <a:buChar char="•"/>
            </a:pPr>
            <a:r>
              <a:rPr lang="en-US" sz="1600" dirty="0">
                <a:solidFill>
                  <a:srgbClr val="3A3631"/>
                </a:solidFill>
                <a:latin typeface="Archivo" pitchFamily="34" charset="0"/>
                <a:ea typeface="Archivo" pitchFamily="34" charset="-122"/>
                <a:cs typeface="Archivo" pitchFamily="34" charset="-120"/>
              </a:rPr>
              <a:t>A wearable fingertip mount, more paintings, more languages.</a:t>
            </a:r>
            <a:endParaRPr lang="en-US" sz="1600" dirty="0"/>
          </a:p>
        </p:txBody>
      </p:sp>
      <p:sp>
        <p:nvSpPr>
          <p:cNvPr id="5" name="Shape 3"/>
          <p:cNvSpPr/>
          <p:nvPr/>
        </p:nvSpPr>
        <p:spPr>
          <a:xfrm>
            <a:off x="6299200" y="2032000"/>
            <a:ext cx="5080000" cy="2235200"/>
          </a:xfrm>
          <a:prstGeom prst="roundRect">
            <a:avLst>
              <a:gd name="adj" fmla="val 4545"/>
            </a:avLst>
          </a:prstGeom>
          <a:solidFill>
            <a:srgbClr val="121110"/>
          </a:solidFill>
          <a:ln/>
        </p:spPr>
      </p:sp>
      <p:sp>
        <p:nvSpPr>
          <p:cNvPr id="6" name="Text 4"/>
          <p:cNvSpPr/>
          <p:nvPr/>
        </p:nvSpPr>
        <p:spPr>
          <a:xfrm>
            <a:off x="6553200" y="2286000"/>
            <a:ext cx="4709160"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4B1F"/>
                </a:solidFill>
                <a:latin typeface="IBM Plex Mono" pitchFamily="49" charset="0"/>
                <a:ea typeface="IBM Plex Mono" pitchFamily="49" charset="-122"/>
                <a:cs typeface="IBM Plex Mono" pitchFamily="49" charset="-120"/>
              </a:rPr>
              <a:t>LINKS</a:t>
            </a:r>
            <a:endParaRPr lang="en-US" sz="1200" dirty="0"/>
          </a:p>
        </p:txBody>
      </p:sp>
      <p:sp>
        <p:nvSpPr>
          <p:cNvPr id="7" name="Text 5"/>
          <p:cNvSpPr/>
          <p:nvPr/>
        </p:nvSpPr>
        <p:spPr>
          <a:xfrm>
            <a:off x="6553200" y="2622550"/>
            <a:ext cx="4709160" cy="304800"/>
          </a:xfrm>
          <a:prstGeom prst="rect">
            <a:avLst/>
          </a:prstGeom>
          <a:noFill/>
          <a:ln/>
        </p:spPr>
        <p:txBody>
          <a:bodyPr wrap="square" lIns="0" tIns="0" rIns="0" bIns="0" rtlCol="0" anchor="t">
            <a:normAutofit/>
          </a:bodyPr>
          <a:lstStyle/>
          <a:p>
            <a:pPr algn="l" indent="0" marL="0">
              <a:lnSpc>
                <a:spcPts val="2240"/>
              </a:lnSpc>
              <a:buNone/>
            </a:pPr>
            <a:r>
              <a:rPr lang="en-US" sz="1600" u="sng" dirty="0">
                <a:solidFill>
                  <a:srgbClr val="EEE7D8"/>
                </a:solidFill>
                <a:latin typeface="Archivo" pitchFamily="34" charset="0"/>
                <a:ea typeface="Archivo" pitchFamily="34" charset="-122"/>
                <a:cs typeface="Archivo"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github.com/bee-0207/open-canvas</a:t>
            </a:r>
            <a:endParaRPr lang="en-US" sz="1600" dirty="0"/>
          </a:p>
        </p:txBody>
      </p:sp>
      <p:sp>
        <p:nvSpPr>
          <p:cNvPr id="8" name="Text 6"/>
          <p:cNvSpPr/>
          <p:nvPr/>
        </p:nvSpPr>
        <p:spPr>
          <a:xfrm>
            <a:off x="6553200" y="3028950"/>
            <a:ext cx="4709160" cy="304800"/>
          </a:xfrm>
          <a:prstGeom prst="rect">
            <a:avLst/>
          </a:prstGeom>
          <a:noFill/>
          <a:ln/>
        </p:spPr>
        <p:txBody>
          <a:bodyPr wrap="square" lIns="0" tIns="0" rIns="0" bIns="0" rtlCol="0" anchor="t">
            <a:normAutofit/>
          </a:bodyPr>
          <a:lstStyle/>
          <a:p>
            <a:pPr algn="l" indent="0" marL="0">
              <a:lnSpc>
                <a:spcPts val="2240"/>
              </a:lnSpc>
              <a:buNone/>
            </a:pPr>
            <a:r>
              <a:rPr lang="en-US" sz="1600" u="sng" dirty="0">
                <a:solidFill>
                  <a:srgbClr val="EEE7D8"/>
                </a:solidFill>
                <a:latin typeface="Archivo" pitchFamily="34" charset="0"/>
                <a:ea typeface="Archivo" pitchFamily="34" charset="-122"/>
                <a:cs typeface="Archivo" pitchFamily="34" charset="-120"/>
                <a:hlinkClick r:id="rId2" invalidUrl="" action="" tgtFrame="" tooltip="" history="1" highlightClick="0" endSnd="0">
                  <a:extLst>
                    <a:ext uri="{A12FA001-AC4F-418D-AE19-62706E023703}">
                      <ahyp:hlinkClr xmlns:ahyp="http://schemas.microsoft.com/office/drawing/2018/hyperlinkcolor" val="tx"/>
                    </a:ext>
                  </a:extLst>
                </a:hlinkClick>
              </a:rPr>
              <a:t>Watch the 1:42 video</a:t>
            </a:r>
            <a:endParaRPr lang="en-US" sz="1600" dirty="0"/>
          </a:p>
        </p:txBody>
      </p:sp>
      <p:sp>
        <p:nvSpPr>
          <p:cNvPr id="9" name="Text 7"/>
          <p:cNvSpPr/>
          <p:nvPr/>
        </p:nvSpPr>
        <p:spPr>
          <a:xfrm>
            <a:off x="6553200" y="3435350"/>
            <a:ext cx="4826000"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8BA"/>
                </a:solidFill>
                <a:latin typeface="Archivo" pitchFamily="34" charset="0"/>
                <a:ea typeface="Archivo" pitchFamily="34" charset="-122"/>
                <a:cs typeface="Archivo" pitchFamily="34" charset="-120"/>
              </a:rPr>
              <a:t>Gerson Avila · Mauricio Barrientos · Travis Kanna</a:t>
            </a:r>
            <a:endParaRPr lang="en-US" sz="1600" dirty="0"/>
          </a:p>
        </p:txBody>
      </p:sp>
      <p:sp>
        <p:nvSpPr>
          <p:cNvPr id="10" name="Text 8"/>
          <p:cNvSpPr/>
          <p:nvPr/>
        </p:nvSpPr>
        <p:spPr>
          <a:xfrm>
            <a:off x="812800" y="4521200"/>
            <a:ext cx="10883392"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55C"/>
                </a:solidFill>
                <a:latin typeface="Archivo" pitchFamily="34" charset="0"/>
                <a:ea typeface="Archivo" pitchFamily="34" charset="-122"/>
                <a:cs typeface="Archivo" pitchFamily="34" charset="-120"/>
              </a:rPr>
              <a:t>Voices and sound effects by ElevenLabs · Paintings: Wikimedia Commons (public domain) · Research: Eyes-Free Art (Rector et al., Microsoft Research, 2017), EyeMusic</a:t>
            </a:r>
            <a:endParaRPr lang="en-US" sz="1200" dirty="0"/>
          </a:p>
        </p:txBody>
      </p:sp>
      <p:sp>
        <p:nvSpPr>
          <p:cNvPr id="11" name="Text 9"/>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55C"/>
                </a:solidFill>
                <a:latin typeface="IBM Plex Mono" pitchFamily="49" charset="0"/>
                <a:ea typeface="IBM Plex Mono" pitchFamily="49" charset="-122"/>
                <a:cs typeface="IBM Plex Mono" pitchFamily="49" charset="-120"/>
              </a:rPr>
              <a:t>Open Canvas · DS+X 2026 Art Hack</a:t>
            </a:r>
            <a:endParaRPr lang="en-US" sz="1200" dirty="0"/>
          </a:p>
        </p:txBody>
      </p:sp>
      <p:sp>
        <p:nvSpPr>
          <p:cNvPr id="12" name="Text 10"/>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55C"/>
                </a:solidFill>
                <a:latin typeface="IBM Plex Mono" pitchFamily="49" charset="0"/>
                <a:ea typeface="IBM Plex Mono" pitchFamily="49" charset="-122"/>
                <a:cs typeface="IBM Plex Mono" pitchFamily="49" charset="-120"/>
              </a:rPr>
              <a:t>15</a:t>
            </a:r>
            <a:endParaRPr lang="en-US" sz="1200" dirty="0"/>
          </a:p>
        </p:txBody>
      </p:sp>
    </p:spTree>
  </p:cSld>
  <p:clrMapOvr>
    <a:masterClrMapping/>
  </p:clrMapOvr>
</p:sld>
</file>

<file path=ppt/theme/theme1.xml><?xml version="1.0" encoding="utf-8"?>
<a:theme xmlns:a="http://schemas.openxmlformats.org/drawingml/2006/main" name="Open Canvas: DS+X 2026 Deck">
  <a:themeElements>
    <a:clrScheme name="Open Canvas: DS+X 2026 Deck">
      <a:dk1>
        <a:srgbClr val="3A3631"/>
      </a:dk1>
      <a:lt1>
        <a:srgbClr val="EEE7D8"/>
      </a:lt1>
      <a:dk2>
        <a:srgbClr val="67625B"/>
      </a:dk2>
      <a:lt2>
        <a:srgbClr val="DCD5C7"/>
      </a:lt2>
      <a:accent1>
        <a:srgbClr val="FF4B1F"/>
      </a:accent1>
      <a:accent2>
        <a:srgbClr val="B8360F"/>
      </a:accent2>
      <a:accent3>
        <a:srgbClr val="6B655C"/>
      </a:accent3>
      <a:accent4>
        <a:srgbClr val="8F887C"/>
      </a:accent4>
      <a:accent5>
        <a:srgbClr val="CFC8BA"/>
      </a:accent5>
      <a:accent6>
        <a:srgbClr val="9AA0A6"/>
      </a:accent6>
      <a:hlink>
        <a:srgbClr val="0563C1"/>
      </a:hlink>
      <a:folHlink>
        <a:srgbClr val="954F72"/>
      </a:folHlink>
    </a:clrScheme>
    <a:fontScheme name="Open Canvas: DS+X 2026 Deck">
      <a:majorFont>
        <a:latin typeface="Archiv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 Canvas: DS+X 2026 Deck</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Instrument Serif
Copyright 2022 The Instrument Serif Project Authors (https://github.com/Instrument/instrument-serif)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2026-10-25T13:16:36Z</dcterms:created>
  <dcterms:modified xsi:type="dcterms:W3CDTF">2026-10-25T13:16:36Z</dcterms:modified>
</cp:coreProperties>
</file>